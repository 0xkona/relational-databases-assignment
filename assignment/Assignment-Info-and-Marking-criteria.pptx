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17"/>
  </p:notesMasterIdLst>
  <p:sldIdLst>
    <p:sldId id="298" r:id="rId2"/>
    <p:sldId id="300" r:id="rId3"/>
    <p:sldId id="309" r:id="rId4"/>
    <p:sldId id="310" r:id="rId5"/>
    <p:sldId id="299" r:id="rId6"/>
    <p:sldId id="371" r:id="rId7"/>
    <p:sldId id="308" r:id="rId8"/>
    <p:sldId id="302" r:id="rId9"/>
    <p:sldId id="372" r:id="rId10"/>
    <p:sldId id="303" r:id="rId11"/>
    <p:sldId id="311" r:id="rId12"/>
    <p:sldId id="312" r:id="rId13"/>
    <p:sldId id="313" r:id="rId14"/>
    <p:sldId id="304" r:id="rId15"/>
    <p:sldId id="307" r:id="rId1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A2C4"/>
    <a:srgbClr val="6C6F70"/>
    <a:srgbClr val="CECFCB"/>
    <a:srgbClr val="EDEBE7"/>
    <a:srgbClr val="E17000"/>
    <a:srgbClr val="E20081"/>
    <a:srgbClr val="7AB800"/>
    <a:srgbClr val="B5B6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11330A-A2EC-5745-8286-0F6D3090ACCB}" v="1" dt="2023-01-04T17:17:05.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43" autoAdjust="0"/>
    <p:restoredTop sz="86738"/>
  </p:normalViewPr>
  <p:slideViewPr>
    <p:cSldViewPr snapToGrid="0" snapToObjects="1">
      <p:cViewPr varScale="1">
        <p:scale>
          <a:sx n="90" d="100"/>
          <a:sy n="90" d="100"/>
        </p:scale>
        <p:origin x="2544" y="1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41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Power" userId="e4ce4ab2-3924-437b-b656-f33956625787" providerId="ADAL" clId="{AF11330A-A2EC-5745-8286-0F6D3090ACCB}"/>
    <pc:docChg chg="undo custSel modSld">
      <pc:chgData name="Mark Power" userId="e4ce4ab2-3924-437b-b656-f33956625787" providerId="ADAL" clId="{AF11330A-A2EC-5745-8286-0F6D3090ACCB}" dt="2023-01-04T17:44:52.659" v="103" actId="6549"/>
      <pc:docMkLst>
        <pc:docMk/>
      </pc:docMkLst>
      <pc:sldChg chg="addSp delSp modSp mod">
        <pc:chgData name="Mark Power" userId="e4ce4ab2-3924-437b-b656-f33956625787" providerId="ADAL" clId="{AF11330A-A2EC-5745-8286-0F6D3090ACCB}" dt="2023-01-04T17:44:10.580" v="102" actId="20577"/>
        <pc:sldMkLst>
          <pc:docMk/>
          <pc:sldMk cId="561557703" sldId="304"/>
        </pc:sldMkLst>
        <pc:spChg chg="mod">
          <ac:chgData name="Mark Power" userId="e4ce4ab2-3924-437b-b656-f33956625787" providerId="ADAL" clId="{AF11330A-A2EC-5745-8286-0F6D3090ACCB}" dt="2023-01-04T17:44:10.580" v="102" actId="20577"/>
          <ac:spMkLst>
            <pc:docMk/>
            <pc:sldMk cId="561557703" sldId="304"/>
            <ac:spMk id="2" creationId="{450D3995-869D-A942-9228-55EF65430626}"/>
          </ac:spMkLst>
        </pc:spChg>
        <pc:graphicFrameChg chg="add mod modGraphic">
          <ac:chgData name="Mark Power" userId="e4ce4ab2-3924-437b-b656-f33956625787" providerId="ADAL" clId="{AF11330A-A2EC-5745-8286-0F6D3090ACCB}" dt="2023-01-04T17:43:46.092" v="90" actId="12385"/>
          <ac:graphicFrameMkLst>
            <pc:docMk/>
            <pc:sldMk cId="561557703" sldId="304"/>
            <ac:graphicFrameMk id="3" creationId="{0BDAB4C6-2D3A-B2EF-05FF-500FD2F0564D}"/>
          </ac:graphicFrameMkLst>
        </pc:graphicFrameChg>
        <pc:graphicFrameChg chg="del">
          <ac:chgData name="Mark Power" userId="e4ce4ab2-3924-437b-b656-f33956625787" providerId="ADAL" clId="{AF11330A-A2EC-5745-8286-0F6D3090ACCB}" dt="2023-01-04T17:17:10.898" v="76" actId="478"/>
          <ac:graphicFrameMkLst>
            <pc:docMk/>
            <pc:sldMk cId="561557703" sldId="304"/>
            <ac:graphicFrameMk id="6" creationId="{552AE1F4-D09F-CE46-A4A7-9469497F013A}"/>
          </ac:graphicFrameMkLst>
        </pc:graphicFrameChg>
      </pc:sldChg>
      <pc:sldChg chg="modSp mod">
        <pc:chgData name="Mark Power" userId="e4ce4ab2-3924-437b-b656-f33956625787" providerId="ADAL" clId="{AF11330A-A2EC-5745-8286-0F6D3090ACCB}" dt="2023-01-04T17:14:14.900" v="74" actId="20577"/>
        <pc:sldMkLst>
          <pc:docMk/>
          <pc:sldMk cId="724676518" sldId="308"/>
        </pc:sldMkLst>
        <pc:spChg chg="mod">
          <ac:chgData name="Mark Power" userId="e4ce4ab2-3924-437b-b656-f33956625787" providerId="ADAL" clId="{AF11330A-A2EC-5745-8286-0F6D3090ACCB}" dt="2023-01-04T17:14:14.900" v="74" actId="20577"/>
          <ac:spMkLst>
            <pc:docMk/>
            <pc:sldMk cId="724676518" sldId="308"/>
            <ac:spMk id="10" creationId="{58B2DB76-5DA8-D04B-867C-F9D903A72038}"/>
          </ac:spMkLst>
        </pc:spChg>
      </pc:sldChg>
      <pc:sldChg chg="modSp mod">
        <pc:chgData name="Mark Power" userId="e4ce4ab2-3924-437b-b656-f33956625787" providerId="ADAL" clId="{AF11330A-A2EC-5745-8286-0F6D3090ACCB}" dt="2023-01-04T17:44:52.659" v="103" actId="6549"/>
        <pc:sldMkLst>
          <pc:docMk/>
          <pc:sldMk cId="1547290832" sldId="313"/>
        </pc:sldMkLst>
        <pc:spChg chg="mod">
          <ac:chgData name="Mark Power" userId="e4ce4ab2-3924-437b-b656-f33956625787" providerId="ADAL" clId="{AF11330A-A2EC-5745-8286-0F6D3090ACCB}" dt="2023-01-04T17:44:52.659" v="103" actId="6549"/>
          <ac:spMkLst>
            <pc:docMk/>
            <pc:sldMk cId="1547290832" sldId="313"/>
            <ac:spMk id="3" creationId="{812105E8-DB06-184F-9F27-1721D205348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9BB659-BB2B-3A4F-BAFB-CF3ECB20659B}" type="datetimeFigureOut">
              <a:rPr lang="en-US" smtClean="0"/>
              <a:t>1/4/23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F65E1-AC3C-F644-905F-DD68274D9D80}" type="slidenum">
              <a:rPr lang="en-US" smtClean="0"/>
              <a:t>‹#›</a:t>
            </a:fld>
            <a:endParaRPr lang="en-US"/>
          </a:p>
        </p:txBody>
      </p:sp>
    </p:spTree>
    <p:extLst>
      <p:ext uri="{BB962C8B-B14F-4D97-AF65-F5344CB8AC3E}">
        <p14:creationId xmlns:p14="http://schemas.microsoft.com/office/powerpoint/2010/main" val="3546834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kern="1200" dirty="0">
                <a:solidFill>
                  <a:schemeClr val="tx1"/>
                </a:solidFill>
                <a:effectLst/>
                <a:latin typeface="+mn-lt"/>
                <a:ea typeface="+mn-ea"/>
                <a:cs typeface="+mn-cs"/>
              </a:rPr>
              <a:t>cardinality</a:t>
            </a:r>
            <a:r>
              <a:rPr lang="en-GB" sz="1200" b="0" i="0" u="none" strike="noStrike" kern="1200" dirty="0">
                <a:solidFill>
                  <a:schemeClr val="tx1"/>
                </a:solidFill>
                <a:effectLst/>
                <a:latin typeface="+mn-lt"/>
                <a:ea typeface="+mn-ea"/>
                <a:cs typeface="+mn-cs"/>
              </a:rPr>
              <a:t> refers to the uniqueness of data values contained in a column. High </a:t>
            </a:r>
            <a:r>
              <a:rPr lang="en-GB" sz="1200" b="1" i="0" u="none" strike="noStrike" kern="1200" dirty="0">
                <a:solidFill>
                  <a:schemeClr val="tx1"/>
                </a:solidFill>
                <a:effectLst/>
                <a:latin typeface="+mn-lt"/>
                <a:ea typeface="+mn-ea"/>
                <a:cs typeface="+mn-cs"/>
              </a:rPr>
              <a:t>cardinality</a:t>
            </a:r>
            <a:r>
              <a:rPr lang="en-GB" sz="1200" b="0" i="0" u="none" strike="noStrike" kern="1200" dirty="0">
                <a:solidFill>
                  <a:schemeClr val="tx1"/>
                </a:solidFill>
                <a:effectLst/>
                <a:latin typeface="+mn-lt"/>
                <a:ea typeface="+mn-ea"/>
                <a:cs typeface="+mn-cs"/>
              </a:rPr>
              <a:t> means that the column contains a large percentage of totally unique values. Low </a:t>
            </a:r>
            <a:r>
              <a:rPr lang="en-GB" sz="1200" b="1" i="0" u="none" strike="noStrike" kern="1200" dirty="0">
                <a:solidFill>
                  <a:schemeClr val="tx1"/>
                </a:solidFill>
                <a:effectLst/>
                <a:latin typeface="+mn-lt"/>
                <a:ea typeface="+mn-ea"/>
                <a:cs typeface="+mn-cs"/>
              </a:rPr>
              <a:t>cardinality</a:t>
            </a:r>
            <a:r>
              <a:rPr lang="en-GB" sz="1200" b="0" i="0" u="none" strike="noStrike" kern="1200" dirty="0">
                <a:solidFill>
                  <a:schemeClr val="tx1"/>
                </a:solidFill>
                <a:effectLst/>
                <a:latin typeface="+mn-lt"/>
                <a:ea typeface="+mn-ea"/>
                <a:cs typeface="+mn-cs"/>
              </a:rPr>
              <a:t> means that the column contains a lot of “repeats” in its data range</a:t>
            </a:r>
            <a:endParaRPr lang="en-US" dirty="0"/>
          </a:p>
        </p:txBody>
      </p:sp>
      <p:sp>
        <p:nvSpPr>
          <p:cNvPr id="4" name="Slide Number Placeholder 3"/>
          <p:cNvSpPr>
            <a:spLocks noGrp="1"/>
          </p:cNvSpPr>
          <p:nvPr>
            <p:ph type="sldNum" sz="quarter" idx="5"/>
          </p:nvPr>
        </p:nvSpPr>
        <p:spPr/>
        <p:txBody>
          <a:bodyPr/>
          <a:lstStyle/>
          <a:p>
            <a:fld id="{178F65E1-AC3C-F644-905F-DD68274D9D80}" type="slidenum">
              <a:rPr lang="en-US" smtClean="0"/>
              <a:t>4</a:t>
            </a:fld>
            <a:endParaRPr lang="en-US"/>
          </a:p>
        </p:txBody>
      </p:sp>
    </p:spTree>
    <p:extLst>
      <p:ext uri="{BB962C8B-B14F-4D97-AF65-F5344CB8AC3E}">
        <p14:creationId xmlns:p14="http://schemas.microsoft.com/office/powerpoint/2010/main" val="18789334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3_Title Slide">
    <p:bg>
      <p:bgPr>
        <a:solidFill>
          <a:schemeClr val="tx1"/>
        </a:solidFill>
        <a:effectLst/>
      </p:bgPr>
    </p:bg>
    <p:spTree>
      <p:nvGrpSpPr>
        <p:cNvPr id="1" name=""/>
        <p:cNvGrpSpPr/>
        <p:nvPr/>
      </p:nvGrpSpPr>
      <p:grpSpPr>
        <a:xfrm>
          <a:off x="0" y="0"/>
          <a:ext cx="0" cy="0"/>
          <a:chOff x="0" y="0"/>
          <a:chExt cx="0" cy="0"/>
        </a:xfrm>
      </p:grpSpPr>
      <p:cxnSp>
        <p:nvCxnSpPr>
          <p:cNvPr id="10" name="Straight Connector 9"/>
          <p:cNvCxnSpPr/>
          <p:nvPr/>
        </p:nvCxnSpPr>
        <p:spPr>
          <a:xfrm>
            <a:off x="364331" y="487674"/>
            <a:ext cx="891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434710" y="487674"/>
            <a:ext cx="73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ctrTitle" hasCustomPrompt="1"/>
          </p:nvPr>
        </p:nvSpPr>
        <p:spPr>
          <a:xfrm>
            <a:off x="1359454" y="1423714"/>
            <a:ext cx="5727146" cy="1842001"/>
          </a:xfrm>
        </p:spPr>
        <p:txBody>
          <a:bodyPr anchor="t">
            <a:noAutofit/>
          </a:bodyPr>
          <a:lstStyle>
            <a:lvl1pPr algn="l">
              <a:lnSpc>
                <a:spcPct val="80000"/>
              </a:lnSpc>
              <a:defRPr sz="7000" kern="1200" spc="0" baseline="0">
                <a:solidFill>
                  <a:schemeClr val="tx2"/>
                </a:solidFill>
                <a:latin typeface="Arial" panose="020B0604020202020204" pitchFamily="34" charset="0"/>
                <a:ea typeface="Sharp Sans No1 Extrabold" pitchFamily="50" charset="0"/>
                <a:cs typeface="Arial" panose="020B0604020202020204" pitchFamily="34" charset="0"/>
              </a:defRPr>
            </a:lvl1pPr>
          </a:lstStyle>
          <a:p>
            <a:r>
              <a:rPr lang="en-GB" dirty="0"/>
              <a:t>THIS TITLE</a:t>
            </a:r>
          </a:p>
        </p:txBody>
      </p:sp>
      <p:sp>
        <p:nvSpPr>
          <p:cNvPr id="12" name="Subtitle 2"/>
          <p:cNvSpPr>
            <a:spLocks noGrp="1"/>
          </p:cNvSpPr>
          <p:nvPr>
            <p:ph type="subTitle" idx="1"/>
          </p:nvPr>
        </p:nvSpPr>
        <p:spPr>
          <a:xfrm>
            <a:off x="1359454" y="3405901"/>
            <a:ext cx="3086100" cy="1655762"/>
          </a:xfrm>
        </p:spPr>
        <p:txBody>
          <a:bodyPr>
            <a:normAutofit/>
          </a:bodyPr>
          <a:lstStyle>
            <a:lvl1pPr marL="0" indent="0" algn="l">
              <a:buNone/>
              <a:defRPr sz="2300" spc="0" baseline="0">
                <a:solidFill>
                  <a:schemeClr val="bg1"/>
                </a:solidFill>
                <a:latin typeface="Arial" panose="020B0604020202020204" pitchFamily="34" charset="0"/>
                <a:ea typeface="Sharp Sans No1 Book" pitchFamily="50"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Right Triangle 6"/>
          <p:cNvSpPr/>
          <p:nvPr/>
        </p:nvSpPr>
        <p:spPr>
          <a:xfrm rot="16200000">
            <a:off x="6000750" y="3714750"/>
            <a:ext cx="3592286" cy="2694215"/>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pitchFamily="34" charset="0"/>
              <a:cs typeface="Arial" panose="020B0604020202020204" pitchFamily="34" charset="0"/>
            </a:endParaRPr>
          </a:p>
        </p:txBody>
      </p:sp>
      <p:sp>
        <p:nvSpPr>
          <p:cNvPr id="16" name="Date Placeholder 3"/>
          <p:cNvSpPr>
            <a:spLocks noGrp="1"/>
          </p:cNvSpPr>
          <p:nvPr>
            <p:ph type="dt" sz="half" idx="10"/>
          </p:nvPr>
        </p:nvSpPr>
        <p:spPr>
          <a:xfrm>
            <a:off x="296526" y="508082"/>
            <a:ext cx="955119" cy="365125"/>
          </a:xfrm>
          <a:prstGeom prst="rect">
            <a:avLst/>
          </a:prstGeom>
        </p:spPr>
        <p:txBody>
          <a:bodyPr/>
          <a:lstStyle>
            <a:lvl1pPr>
              <a:defRPr sz="900">
                <a:solidFill>
                  <a:schemeClr val="bg1"/>
                </a:solidFill>
                <a:latin typeface="Arial" panose="020B0604020202020204" pitchFamily="34" charset="0"/>
                <a:ea typeface="Sharp Sans No1 Book" pitchFamily="50" charset="0"/>
                <a:cs typeface="Arial" panose="020B0604020202020204" pitchFamily="34" charset="0"/>
              </a:defRPr>
            </a:lvl1pPr>
          </a:lstStyle>
          <a:p>
            <a:pPr>
              <a:defRPr/>
            </a:pPr>
            <a:fld id="{ADDDF1D4-88D1-492E-A93F-53CFB47AA5CE}" type="datetimeFigureOut">
              <a:rPr lang="en-US" smtClean="0">
                <a:solidFill>
                  <a:srgbClr val="FFFFFF"/>
                </a:solidFill>
              </a:rPr>
              <a:pPr>
                <a:defRPr/>
              </a:pPr>
              <a:t>1/4/23</a:t>
            </a:fld>
            <a:endParaRPr lang="en-US">
              <a:solidFill>
                <a:srgbClr val="FFFFFF"/>
              </a:solidFill>
            </a:endParaRPr>
          </a:p>
        </p:txBody>
      </p:sp>
      <p:sp>
        <p:nvSpPr>
          <p:cNvPr id="17" name="Footer Placeholder 3"/>
          <p:cNvSpPr>
            <a:spLocks noGrp="1"/>
          </p:cNvSpPr>
          <p:nvPr>
            <p:ph type="ftr" sz="quarter" idx="11"/>
          </p:nvPr>
        </p:nvSpPr>
        <p:spPr>
          <a:xfrm>
            <a:off x="1359454" y="508082"/>
            <a:ext cx="3086100" cy="365125"/>
          </a:xfrm>
          <a:prstGeom prst="rect">
            <a:avLst/>
          </a:prstGeom>
        </p:spPr>
        <p:txBody>
          <a:bodyPr/>
          <a:lstStyle>
            <a:lvl1pPr algn="l">
              <a:defRPr sz="900">
                <a:solidFill>
                  <a:schemeClr val="bg1"/>
                </a:solidFill>
                <a:latin typeface="Arial" panose="020B0604020202020204" pitchFamily="34" charset="0"/>
                <a:ea typeface="Sharp Sans No1 Book" pitchFamily="50" charset="0"/>
                <a:cs typeface="Arial" panose="020B0604020202020204" pitchFamily="34" charset="0"/>
              </a:defRPr>
            </a:lvl1pPr>
          </a:lstStyle>
          <a:p>
            <a:pPr>
              <a:defRPr/>
            </a:pPr>
            <a:endParaRPr lang="en-US">
              <a:solidFill>
                <a:srgbClr val="FFFFFF"/>
              </a:solidFill>
            </a:endParaRPr>
          </a:p>
        </p:txBody>
      </p:sp>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0373" y="5795138"/>
            <a:ext cx="1333028" cy="864000"/>
          </a:xfrm>
          <a:prstGeom prst="rect">
            <a:avLst/>
          </a:prstGeom>
        </p:spPr>
      </p:pic>
    </p:spTree>
    <p:extLst>
      <p:ext uri="{BB962C8B-B14F-4D97-AF65-F5344CB8AC3E}">
        <p14:creationId xmlns:p14="http://schemas.microsoft.com/office/powerpoint/2010/main" val="425619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cxnSp>
        <p:nvCxnSpPr>
          <p:cNvPr id="5" name="Straight Connector 18"/>
          <p:cNvCxnSpPr/>
          <p:nvPr userDrawn="1"/>
        </p:nvCxnSpPr>
        <p:spPr>
          <a:xfrm rot="10800000">
            <a:off x="0" y="5537200"/>
            <a:ext cx="3810000" cy="1320800"/>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 name="Rectangle 24"/>
          <p:cNvSpPr/>
          <p:nvPr userDrawn="1"/>
        </p:nvSpPr>
        <p:spPr>
          <a:xfrm>
            <a:off x="457200" y="422275"/>
            <a:ext cx="5800725" cy="567531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sp>
        <p:nvSpPr>
          <p:cNvPr id="7" name="Rectangle 9"/>
          <p:cNvSpPr/>
          <p:nvPr userDrawn="1"/>
        </p:nvSpPr>
        <p:spPr>
          <a:xfrm>
            <a:off x="8335963" y="4513263"/>
            <a:ext cx="90487" cy="9048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cxnSp>
        <p:nvCxnSpPr>
          <p:cNvPr id="8" name="Straight Connector 10"/>
          <p:cNvCxnSpPr/>
          <p:nvPr userDrawn="1"/>
        </p:nvCxnSpPr>
        <p:spPr>
          <a:xfrm rot="10800000" flipV="1">
            <a:off x="6211888" y="4557713"/>
            <a:ext cx="2168525" cy="1835150"/>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11"/>
          <p:cNvSpPr/>
          <p:nvPr userDrawn="1"/>
        </p:nvSpPr>
        <p:spPr>
          <a:xfrm>
            <a:off x="6167438" y="6348413"/>
            <a:ext cx="90487" cy="9048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cxnSp>
        <p:nvCxnSpPr>
          <p:cNvPr id="10" name="Straight Connector 12"/>
          <p:cNvCxnSpPr/>
          <p:nvPr userDrawn="1"/>
        </p:nvCxnSpPr>
        <p:spPr>
          <a:xfrm rot="16200000" flipV="1">
            <a:off x="8359776" y="4578350"/>
            <a:ext cx="804862" cy="763587"/>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5"/>
          <p:cNvCxnSpPr/>
          <p:nvPr userDrawn="1"/>
        </p:nvCxnSpPr>
        <p:spPr>
          <a:xfrm rot="10800000">
            <a:off x="0" y="6126163"/>
            <a:ext cx="6211888" cy="266700"/>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 name="Rectangle 17"/>
          <p:cNvSpPr/>
          <p:nvPr userDrawn="1"/>
        </p:nvSpPr>
        <p:spPr>
          <a:xfrm>
            <a:off x="1917700" y="6170613"/>
            <a:ext cx="90488" cy="889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sp>
        <p:nvSpPr>
          <p:cNvPr id="2" name="Title 1"/>
          <p:cNvSpPr>
            <a:spLocks noGrp="1"/>
          </p:cNvSpPr>
          <p:nvPr>
            <p:ph type="title"/>
          </p:nvPr>
        </p:nvSpPr>
        <p:spPr>
          <a:xfrm>
            <a:off x="607344" y="274638"/>
            <a:ext cx="8079453" cy="1143000"/>
          </a:xfrm>
        </p:spPr>
        <p:txBody>
          <a:bodyPr>
            <a:normAutofit/>
          </a:bodyPr>
          <a:lstStyle>
            <a:lvl1pPr algn="l">
              <a:defRPr sz="2800" b="1" i="0">
                <a:solidFill>
                  <a:srgbClr val="11A2C4"/>
                </a:solidFill>
                <a:latin typeface="Arial Bold"/>
                <a:cs typeface="Arial Bold"/>
              </a:defRPr>
            </a:lvl1pPr>
          </a:lstStyle>
          <a:p>
            <a:r>
              <a:rPr lang="en-GB" dirty="0"/>
              <a:t>Click to edit Master title style</a:t>
            </a:r>
            <a:endParaRPr lang="en-US" dirty="0"/>
          </a:p>
        </p:txBody>
      </p:sp>
      <p:sp>
        <p:nvSpPr>
          <p:cNvPr id="26" name="Content Placeholder 2"/>
          <p:cNvSpPr>
            <a:spLocks noGrp="1"/>
          </p:cNvSpPr>
          <p:nvPr>
            <p:ph idx="1"/>
          </p:nvPr>
        </p:nvSpPr>
        <p:spPr>
          <a:xfrm>
            <a:off x="457200" y="1600200"/>
            <a:ext cx="5709951" cy="4525963"/>
          </a:xfrm>
        </p:spPr>
        <p:txBody>
          <a:bodyPr/>
          <a:lstStyle>
            <a:lvl1pPr>
              <a:buClr>
                <a:srgbClr val="11A2C4"/>
              </a:buClr>
              <a:defRPr sz="2400" b="0" i="0">
                <a:solidFill>
                  <a:srgbClr val="6C6F70"/>
                </a:solidFill>
                <a:latin typeface="Arial"/>
                <a:cs typeface="Arial"/>
              </a:defRPr>
            </a:lvl1pPr>
            <a:lvl2pPr>
              <a:buClr>
                <a:srgbClr val="11A2C4"/>
              </a:buClr>
              <a:defRPr sz="2000" b="0" i="0">
                <a:solidFill>
                  <a:srgbClr val="6C6F70"/>
                </a:solidFill>
                <a:latin typeface="Arial"/>
                <a:cs typeface="Arial"/>
              </a:defRPr>
            </a:lvl2pPr>
            <a:lvl3pPr>
              <a:buClr>
                <a:srgbClr val="11A2C4"/>
              </a:buClr>
              <a:defRPr sz="1800" b="0" i="0">
                <a:solidFill>
                  <a:srgbClr val="6C6F70"/>
                </a:solidFill>
                <a:latin typeface="Arial"/>
                <a:cs typeface="Arial"/>
              </a:defRPr>
            </a:lvl3pPr>
            <a:lvl4pPr>
              <a:buClr>
                <a:srgbClr val="11A2C4"/>
              </a:buClr>
              <a:defRPr sz="1600" b="0" i="0">
                <a:solidFill>
                  <a:srgbClr val="6C6F70"/>
                </a:solidFill>
                <a:latin typeface="Arial"/>
                <a:cs typeface="Arial"/>
              </a:defRPr>
            </a:lvl4pPr>
            <a:lvl5pPr>
              <a:buClr>
                <a:srgbClr val="11A2C4"/>
              </a:buClr>
              <a:defRPr sz="1600" b="0" i="0">
                <a:solidFill>
                  <a:srgbClr val="6C6F70"/>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ontent Placeholder 2"/>
          <p:cNvSpPr>
            <a:spLocks noGrp="1"/>
          </p:cNvSpPr>
          <p:nvPr>
            <p:ph idx="10"/>
          </p:nvPr>
        </p:nvSpPr>
        <p:spPr>
          <a:xfrm>
            <a:off x="6515949" y="1600200"/>
            <a:ext cx="2170849" cy="4525963"/>
          </a:xfrm>
        </p:spPr>
        <p:txBody>
          <a:bodyPr/>
          <a:lstStyle>
            <a:lvl1pPr>
              <a:buClr>
                <a:srgbClr val="11A2C4"/>
              </a:buClr>
              <a:buNone/>
              <a:defRPr sz="2400" b="0" i="0">
                <a:solidFill>
                  <a:srgbClr val="11A2C4"/>
                </a:solidFill>
                <a:latin typeface="Arial"/>
                <a:cs typeface="Arial"/>
              </a:defRPr>
            </a:lvl1pPr>
            <a:lvl2pPr>
              <a:buClr>
                <a:srgbClr val="11A2C4"/>
              </a:buClr>
              <a:defRPr sz="2000" b="0" i="0">
                <a:solidFill>
                  <a:srgbClr val="B5B6B3"/>
                </a:solidFill>
                <a:latin typeface="Arial"/>
                <a:cs typeface="Arial"/>
              </a:defRPr>
            </a:lvl2pPr>
            <a:lvl3pPr>
              <a:buClr>
                <a:srgbClr val="11A2C4"/>
              </a:buClr>
              <a:defRPr sz="1800" b="0" i="0">
                <a:solidFill>
                  <a:srgbClr val="B5B6B3"/>
                </a:solidFill>
                <a:latin typeface="Arial"/>
                <a:cs typeface="Arial"/>
              </a:defRPr>
            </a:lvl3pPr>
            <a:lvl4pPr>
              <a:buClr>
                <a:srgbClr val="11A2C4"/>
              </a:buClr>
              <a:defRPr sz="1600" b="0" i="0">
                <a:solidFill>
                  <a:srgbClr val="B5B6B3"/>
                </a:solidFill>
                <a:latin typeface="Arial"/>
                <a:cs typeface="Arial"/>
              </a:defRPr>
            </a:lvl4pPr>
            <a:lvl5pPr>
              <a:buClr>
                <a:srgbClr val="11A2C4"/>
              </a:buClr>
              <a:defRPr sz="1600" b="0" i="0">
                <a:solidFill>
                  <a:srgbClr val="B5B6B3"/>
                </a:solidFill>
                <a:latin typeface="Arial"/>
                <a:cs typeface="Arial"/>
              </a:defRPr>
            </a:lvl5pPr>
          </a:lstStyle>
          <a:p>
            <a:pPr lvl="0"/>
            <a:endParaRPr lang="en-US" dirty="0"/>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01661" y="0"/>
            <a:ext cx="2342340" cy="1138638"/>
          </a:xfrm>
          <a:prstGeom prst="rect">
            <a:avLst/>
          </a:prstGeom>
        </p:spPr>
      </p:pic>
    </p:spTree>
    <p:extLst>
      <p:ext uri="{BB962C8B-B14F-4D97-AF65-F5344CB8AC3E}">
        <p14:creationId xmlns:p14="http://schemas.microsoft.com/office/powerpoint/2010/main" val="132362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9224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963326"/>
            <a:ext cx="7886700" cy="968662"/>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628650" y="2109193"/>
            <a:ext cx="7886700" cy="406777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869396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Sharp Sans No1 Extrabold" pitchFamily="50" charset="0"/>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Sharp Sans No1 Semibold" pitchFamily="50"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Sharp Sans No1 Book" pitchFamily="50"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666666"/>
          </a:solidFill>
          <a:latin typeface="Graphik Regular" panose="020B0503030202060203" pitchFamily="34" charset="0"/>
          <a:ea typeface="Sharp Sans No1 Book" pitchFamily="50" charset="0"/>
          <a:cs typeface="Sharp Sans No1 Book" pitchFamily="5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harp Sans No1 Book" pitchFamily="50" charset="0"/>
          <a:ea typeface="Sharp Sans No1 Book" pitchFamily="50" charset="0"/>
          <a:cs typeface="Sharp Sans No1 Book" pitchFamily="5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harp Sans No1 Book" pitchFamily="50" charset="0"/>
          <a:ea typeface="Sharp Sans No1 Book" pitchFamily="50" charset="0"/>
          <a:cs typeface="Sharp Sans No1 Book" pitchFamily="5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359454" y="1423714"/>
            <a:ext cx="6727271" cy="1842001"/>
          </a:xfrm>
        </p:spPr>
        <p:txBody>
          <a:bodyPr/>
          <a:lstStyle/>
          <a:p>
            <a:r>
              <a:rPr lang="en-GB" dirty="0"/>
              <a:t>Assignment Requirements</a:t>
            </a:r>
            <a:endParaRPr lang="en-GB" dirty="0">
              <a:latin typeface="Arial" panose="020B0604020202020204" pitchFamily="34" charset="0"/>
              <a:cs typeface="Arial" panose="020B0604020202020204" pitchFamily="34" charset="0"/>
            </a:endParaRPr>
          </a:p>
        </p:txBody>
      </p:sp>
      <p:sp>
        <p:nvSpPr>
          <p:cNvPr id="6" name="Subtitle 5"/>
          <p:cNvSpPr>
            <a:spLocks noGrp="1"/>
          </p:cNvSpPr>
          <p:nvPr>
            <p:ph type="subTitle" idx="1"/>
          </p:nvPr>
        </p:nvSpPr>
        <p:spPr>
          <a:xfrm>
            <a:off x="1359453" y="3405901"/>
            <a:ext cx="6727271" cy="1655762"/>
          </a:xfrm>
        </p:spPr>
        <p:txBody>
          <a:bodyPr>
            <a:normAutofit/>
          </a:bodyPr>
          <a:lstStyle/>
          <a:p>
            <a:endParaRPr lang="en-GB" dirty="0">
              <a:latin typeface="Arial" panose="020B0604020202020204" pitchFamily="34" charset="0"/>
              <a:cs typeface="Arial" panose="020B0604020202020204" pitchFamily="34" charset="0"/>
            </a:endParaRPr>
          </a:p>
          <a:p>
            <a:endParaRPr lang="en-GB" dirty="0"/>
          </a:p>
          <a:p>
            <a:endParaRPr lang="en-GB" dirty="0">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A267F8E3-7E6B-4328-BCB9-B2E63CA151E3}" type="datetime4">
              <a:rPr lang="en-GB" smtClean="0">
                <a:solidFill>
                  <a:srgbClr val="FFFFFF"/>
                </a:solidFill>
              </a:rPr>
              <a:pPr/>
              <a:t>4 January 2023</a:t>
            </a:fld>
            <a:endParaRPr lang="en-GB" dirty="0">
              <a:solidFill>
                <a:srgbClr val="FFFFFF"/>
              </a:solidFill>
            </a:endParaRPr>
          </a:p>
        </p:txBody>
      </p:sp>
      <p:sp>
        <p:nvSpPr>
          <p:cNvPr id="9" name="Footer Placeholder 8"/>
          <p:cNvSpPr>
            <a:spLocks noGrp="1"/>
          </p:cNvSpPr>
          <p:nvPr>
            <p:ph type="ftr" sz="quarter" idx="11"/>
          </p:nvPr>
        </p:nvSpPr>
        <p:spPr/>
        <p:txBody>
          <a:bodyPr/>
          <a:lstStyle/>
          <a:p>
            <a:r>
              <a:rPr lang="en-GB" dirty="0">
                <a:solidFill>
                  <a:srgbClr val="FFFFFF"/>
                </a:solidFill>
              </a:rPr>
              <a:t>University of Suffolk</a:t>
            </a:r>
          </a:p>
        </p:txBody>
      </p:sp>
    </p:spTree>
    <p:extLst>
      <p:ext uri="{BB962C8B-B14F-4D97-AF65-F5344CB8AC3E}">
        <p14:creationId xmlns:p14="http://schemas.microsoft.com/office/powerpoint/2010/main" val="2422379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GB" dirty="0"/>
              <a:t>What is required?</a:t>
            </a: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457200" y="1600200"/>
            <a:ext cx="8229597" cy="4828309"/>
          </a:xfrm>
        </p:spPr>
        <p:txBody>
          <a:bodyPr/>
          <a:lstStyle/>
          <a:p>
            <a:pPr marL="0" indent="0" algn="just">
              <a:buNone/>
            </a:pPr>
            <a:r>
              <a:rPr lang="en-GB" b="1" dirty="0">
                <a:solidFill>
                  <a:schemeClr val="tx1"/>
                </a:solidFill>
              </a:rPr>
              <a:t> </a:t>
            </a:r>
            <a:endParaRPr lang="en-GB" dirty="0">
              <a:solidFill>
                <a:schemeClr val="tx1"/>
              </a:solidFill>
            </a:endParaRPr>
          </a:p>
          <a:p>
            <a:pPr lvl="0" algn="just"/>
            <a:r>
              <a:rPr lang="en-GB" dirty="0">
                <a:solidFill>
                  <a:schemeClr val="tx1"/>
                </a:solidFill>
              </a:rPr>
              <a:t>A conceptual and logical data model of database, probably in the form of an Entity-Relationship diagram</a:t>
            </a:r>
          </a:p>
          <a:p>
            <a:pPr lvl="0" algn="just"/>
            <a:r>
              <a:rPr lang="en-GB" dirty="0">
                <a:solidFill>
                  <a:schemeClr val="tx1"/>
                </a:solidFill>
              </a:rPr>
              <a:t>Normalised database ( show all the table decomposition steps in each of the normal forms – 1NF, 2NF, 3NF and BCNF)</a:t>
            </a:r>
          </a:p>
          <a:p>
            <a:pPr algn="just"/>
            <a:r>
              <a:rPr lang="en-GB" dirty="0">
                <a:solidFill>
                  <a:schemeClr val="tx1"/>
                </a:solidFill>
              </a:rPr>
              <a:t>1,000-word essay critically analysing the decisions made during the design </a:t>
            </a:r>
            <a:endParaRPr lang="en-US" dirty="0">
              <a:solidFill>
                <a:schemeClr val="tx1"/>
              </a:solidFill>
            </a:endParaRPr>
          </a:p>
        </p:txBody>
      </p:sp>
    </p:spTree>
    <p:extLst>
      <p:ext uri="{BB962C8B-B14F-4D97-AF65-F5344CB8AC3E}">
        <p14:creationId xmlns:p14="http://schemas.microsoft.com/office/powerpoint/2010/main" val="1012575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GB" dirty="0"/>
              <a:t>Learning outcomes to be assessed</a:t>
            </a: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457200" y="1600200"/>
            <a:ext cx="8229597" cy="4828309"/>
          </a:xfrm>
        </p:spPr>
        <p:txBody>
          <a:bodyPr>
            <a:normAutofit fontScale="92500" lnSpcReduction="20000"/>
          </a:bodyPr>
          <a:lstStyle/>
          <a:p>
            <a:pPr marL="0" indent="0" algn="just">
              <a:buNone/>
            </a:pPr>
            <a:r>
              <a:rPr lang="en-GB" b="1" dirty="0">
                <a:solidFill>
                  <a:schemeClr val="tx1"/>
                </a:solidFill>
              </a:rPr>
              <a:t> </a:t>
            </a:r>
            <a:endParaRPr lang="en-GB" dirty="0">
              <a:solidFill>
                <a:schemeClr val="tx1"/>
              </a:solidFill>
            </a:endParaRPr>
          </a:p>
          <a:p>
            <a:pPr marL="342900" lvl="0" indent="-342900">
              <a:spcAft>
                <a:spcPts val="0"/>
              </a:spcAft>
              <a:buFont typeface="+mj-lt"/>
              <a:buAutoNum type="arabicPeriod"/>
            </a:pPr>
            <a:r>
              <a:rPr lang="en-GB" dirty="0">
                <a:solidFill>
                  <a:schemeClr val="tx1"/>
                </a:solidFill>
                <a:latin typeface="Arial" panose="020B0604020202020204" pitchFamily="34" charset="0"/>
                <a:ea typeface="Times New Roman" panose="02020603050405020304" pitchFamily="18" charset="0"/>
              </a:rPr>
              <a:t>Demonstrate knowledge and understanding of appropriate data analysis techniques for a given context</a:t>
            </a:r>
          </a:p>
          <a:p>
            <a:pPr marL="342900" lvl="0" indent="-342900">
              <a:spcAft>
                <a:spcPts val="0"/>
              </a:spcAft>
              <a:buFont typeface="+mj-lt"/>
              <a:buAutoNum type="arabicPeriod"/>
            </a:pPr>
            <a:endParaRPr lang="en-GB" sz="3600" dirty="0">
              <a:solidFill>
                <a:schemeClr val="tx1"/>
              </a:solidFill>
              <a:latin typeface="Times New Roman" panose="02020603050405020304" pitchFamily="18" charset="0"/>
              <a:ea typeface="Times New Roman" panose="02020603050405020304" pitchFamily="18" charset="0"/>
            </a:endParaRPr>
          </a:p>
          <a:p>
            <a:pPr marL="342900" lvl="0" indent="-342900">
              <a:spcAft>
                <a:spcPts val="0"/>
              </a:spcAft>
              <a:buFont typeface="+mj-lt"/>
              <a:buAutoNum type="arabicPeriod"/>
            </a:pPr>
            <a:r>
              <a:rPr lang="en-GB" dirty="0">
                <a:solidFill>
                  <a:schemeClr val="tx1"/>
                </a:solidFill>
                <a:latin typeface="Arial" panose="020B0604020202020204" pitchFamily="34" charset="0"/>
                <a:ea typeface="Times New Roman" panose="02020603050405020304" pitchFamily="18" charset="0"/>
              </a:rPr>
              <a:t>Investigate and analyse the requirements of an enterprise, in order to gain a clear understanding of its data requirements and to document those requirements clearly and appropriately using standard notations</a:t>
            </a:r>
          </a:p>
          <a:p>
            <a:pPr marL="342900" lvl="0" indent="-342900">
              <a:spcAft>
                <a:spcPts val="0"/>
              </a:spcAft>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342900" lvl="0" indent="-342900">
              <a:spcAft>
                <a:spcPts val="0"/>
              </a:spcAft>
              <a:buFont typeface="+mj-lt"/>
              <a:buAutoNum type="arabicPeriod"/>
            </a:pPr>
            <a:r>
              <a:rPr lang="en-GB" dirty="0">
                <a:solidFill>
                  <a:schemeClr val="tx1"/>
                </a:solidFill>
                <a:latin typeface="Arial" panose="020B0604020202020204" pitchFamily="34" charset="0"/>
                <a:ea typeface="Times New Roman" panose="02020603050405020304" pitchFamily="18" charset="0"/>
              </a:rPr>
              <a:t>Apply appropriate data analysis and database design techniques</a:t>
            </a:r>
          </a:p>
          <a:p>
            <a:pPr marL="342900" lvl="0" indent="-342900">
              <a:spcAft>
                <a:spcPts val="0"/>
              </a:spcAft>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342900" lvl="0" indent="-342900">
              <a:spcAft>
                <a:spcPts val="0"/>
              </a:spcAft>
              <a:buFont typeface="+mj-lt"/>
              <a:buAutoNum type="arabicPeriod"/>
            </a:pPr>
            <a:r>
              <a:rPr lang="en-GB" dirty="0">
                <a:solidFill>
                  <a:schemeClr val="tx1"/>
                </a:solidFill>
                <a:latin typeface="Arial" panose="020B0604020202020204" pitchFamily="34" charset="0"/>
                <a:ea typeface="Times New Roman" panose="02020603050405020304" pitchFamily="18" charset="0"/>
              </a:rPr>
              <a:t>Verify that a design meets with the information requirements of an enterprise;</a:t>
            </a:r>
            <a:endParaRPr lang="en-GB" sz="3600"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94689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GB" dirty="0"/>
              <a:t>Assignment Brief</a:t>
            </a: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457200" y="1600200"/>
            <a:ext cx="8229597" cy="4828309"/>
          </a:xfrm>
        </p:spPr>
        <p:txBody>
          <a:bodyPr>
            <a:normAutofit fontScale="77500" lnSpcReduction="20000"/>
          </a:bodyPr>
          <a:lstStyle/>
          <a:p>
            <a:pPr lvl="0"/>
            <a:r>
              <a:rPr lang="en-GB" sz="2100" dirty="0">
                <a:solidFill>
                  <a:schemeClr val="tx1"/>
                </a:solidFill>
              </a:rPr>
              <a:t>Produce an initial proposal for your database.  Discuss this with your tutor to ensure that it meets the assignment’s requirements.  Incorporate any changes recommended by your tutor and discuss these to ensure you have a viable proposal.</a:t>
            </a:r>
          </a:p>
          <a:p>
            <a:pPr marL="0" indent="0">
              <a:buNone/>
            </a:pPr>
            <a:r>
              <a:rPr lang="en-GB" sz="2100" dirty="0">
                <a:solidFill>
                  <a:schemeClr val="tx1"/>
                </a:solidFill>
              </a:rPr>
              <a:t> </a:t>
            </a:r>
          </a:p>
          <a:p>
            <a:pPr lvl="0"/>
            <a:r>
              <a:rPr lang="en-GB" sz="2100" dirty="0">
                <a:solidFill>
                  <a:schemeClr val="tx1"/>
                </a:solidFill>
              </a:rPr>
              <a:t>Design your database and create </a:t>
            </a:r>
            <a:r>
              <a:rPr lang="en-GB" sz="2100" dirty="0">
                <a:solidFill>
                  <a:srgbClr val="0070C0"/>
                </a:solidFill>
              </a:rPr>
              <a:t>a logical model </a:t>
            </a:r>
            <a:r>
              <a:rPr lang="en-GB" sz="2100" dirty="0">
                <a:solidFill>
                  <a:schemeClr val="tx1"/>
                </a:solidFill>
              </a:rPr>
              <a:t>represented by an Entity-Relationship Diagram (ERD).  Your design process should progress from </a:t>
            </a:r>
            <a:r>
              <a:rPr lang="en-GB" sz="2100" dirty="0">
                <a:solidFill>
                  <a:srgbClr val="0070C0"/>
                </a:solidFill>
              </a:rPr>
              <a:t>conceptual to logical models</a:t>
            </a:r>
            <a:r>
              <a:rPr lang="en-GB" sz="2100" dirty="0">
                <a:solidFill>
                  <a:schemeClr val="tx1"/>
                </a:solidFill>
              </a:rPr>
              <a:t>.  You will need to identify, for example: </a:t>
            </a:r>
          </a:p>
          <a:p>
            <a:pPr lvl="1"/>
            <a:r>
              <a:rPr lang="en-GB" sz="2100" dirty="0">
                <a:solidFill>
                  <a:schemeClr val="tx1"/>
                </a:solidFill>
              </a:rPr>
              <a:t>Entities </a:t>
            </a:r>
          </a:p>
          <a:p>
            <a:pPr lvl="1"/>
            <a:r>
              <a:rPr lang="en-GB" sz="2100" dirty="0">
                <a:solidFill>
                  <a:schemeClr val="tx1"/>
                </a:solidFill>
              </a:rPr>
              <a:t>Attributes &amp; constraints</a:t>
            </a:r>
          </a:p>
          <a:p>
            <a:pPr lvl="1"/>
            <a:r>
              <a:rPr lang="en-GB" sz="2100" dirty="0">
                <a:solidFill>
                  <a:schemeClr val="tx1"/>
                </a:solidFill>
              </a:rPr>
              <a:t>Relations &amp; their cardinality</a:t>
            </a:r>
          </a:p>
          <a:p>
            <a:pPr lvl="1"/>
            <a:r>
              <a:rPr lang="en-GB" sz="2100" dirty="0">
                <a:solidFill>
                  <a:schemeClr val="tx1"/>
                </a:solidFill>
              </a:rPr>
              <a:t>Candidate, primary, foreign &amp; composite keys</a:t>
            </a:r>
          </a:p>
          <a:p>
            <a:pPr marL="0" indent="0">
              <a:buNone/>
            </a:pPr>
            <a:r>
              <a:rPr lang="en-GB" sz="2100" dirty="0">
                <a:solidFill>
                  <a:schemeClr val="tx1"/>
                </a:solidFill>
              </a:rPr>
              <a:t> </a:t>
            </a:r>
          </a:p>
          <a:p>
            <a:r>
              <a:rPr lang="en-GB" sz="2100" dirty="0">
                <a:solidFill>
                  <a:schemeClr val="tx1"/>
                </a:solidFill>
              </a:rPr>
              <a:t>Your database design will need to be in Boyce-Codd Normal Form (BCNF).</a:t>
            </a:r>
          </a:p>
          <a:p>
            <a:pPr marL="0" indent="0">
              <a:buNone/>
            </a:pPr>
            <a:endParaRPr lang="en-GB" sz="2100" dirty="0">
              <a:solidFill>
                <a:schemeClr val="tx1"/>
              </a:solidFill>
            </a:endParaRPr>
          </a:p>
          <a:p>
            <a:pPr lvl="0"/>
            <a:r>
              <a:rPr lang="en-GB" sz="2100" dirty="0">
                <a:solidFill>
                  <a:schemeClr val="tx1"/>
                </a:solidFill>
              </a:rPr>
              <a:t>Identify the enquiries likely to be made of the database by the users.  These need only be expressed in bullet points &amp; not in SQL.</a:t>
            </a:r>
          </a:p>
          <a:p>
            <a:pPr marL="0" indent="0">
              <a:buNone/>
            </a:pPr>
            <a:r>
              <a:rPr lang="en-GB" sz="2100" dirty="0">
                <a:solidFill>
                  <a:schemeClr val="tx1"/>
                </a:solidFill>
              </a:rPr>
              <a:t> </a:t>
            </a:r>
          </a:p>
          <a:p>
            <a:pPr lvl="0"/>
            <a:r>
              <a:rPr lang="en-GB" sz="2100" dirty="0">
                <a:solidFill>
                  <a:schemeClr val="tx1"/>
                </a:solidFill>
              </a:rPr>
              <a:t>Write a 1,000-word essay identifying &amp; critically analysing the key decisions made during the design of your database</a:t>
            </a:r>
          </a:p>
          <a:p>
            <a:pPr marL="0" indent="0" algn="just">
              <a:buNone/>
            </a:pPr>
            <a:endParaRPr lang="en-GB" sz="3600"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73344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a:xfrm>
            <a:off x="815162" y="2352820"/>
            <a:ext cx="8079453" cy="1143000"/>
          </a:xfrm>
        </p:spPr>
        <p:txBody>
          <a:bodyPr/>
          <a:lstStyle/>
          <a:p>
            <a:pPr algn="ctr"/>
            <a:r>
              <a:rPr lang="en-GB" dirty="0"/>
              <a:t>Assignment: Report Structure</a:t>
            </a:r>
            <a:endParaRPr lang="en-US" dirty="0"/>
          </a:p>
        </p:txBody>
      </p:sp>
    </p:spTree>
    <p:extLst>
      <p:ext uri="{BB962C8B-B14F-4D97-AF65-F5344CB8AC3E}">
        <p14:creationId xmlns:p14="http://schemas.microsoft.com/office/powerpoint/2010/main" val="4121981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p:cNvSpPr>
            <a:spLocks noGrp="1"/>
          </p:cNvSpPr>
          <p:nvPr>
            <p:ph type="title"/>
          </p:nvPr>
        </p:nvSpPr>
        <p:spPr>
          <a:xfrm>
            <a:off x="608013" y="274638"/>
            <a:ext cx="5559425" cy="1143000"/>
          </a:xfrm>
        </p:spPr>
        <p:txBody>
          <a:bodyPr/>
          <a:lstStyle/>
          <a:p>
            <a:r>
              <a:rPr lang="en-GB" dirty="0">
                <a:ea typeface="Arial Bold"/>
              </a:rPr>
              <a:t>Document Structure</a:t>
            </a:r>
          </a:p>
        </p:txBody>
      </p:sp>
      <p:sp>
        <p:nvSpPr>
          <p:cNvPr id="12290" name="Content Placeholder 2"/>
          <p:cNvSpPr>
            <a:spLocks noGrp="1"/>
          </p:cNvSpPr>
          <p:nvPr>
            <p:ph idx="1"/>
          </p:nvPr>
        </p:nvSpPr>
        <p:spPr>
          <a:xfrm>
            <a:off x="457200" y="1600200"/>
            <a:ext cx="8209128" cy="4525963"/>
          </a:xfrm>
        </p:spPr>
        <p:txBody>
          <a:bodyPr>
            <a:normAutofit lnSpcReduction="10000"/>
          </a:bodyPr>
          <a:lstStyle/>
          <a:p>
            <a:pPr marL="0" indent="0">
              <a:buNone/>
            </a:pPr>
            <a:r>
              <a:rPr lang="en-GB" sz="2200" dirty="0">
                <a:solidFill>
                  <a:schemeClr val="tx1"/>
                </a:solidFill>
                <a:latin typeface="Arial" charset="0"/>
                <a:cs typeface="Arial" charset="0"/>
              </a:rPr>
              <a:t>Title</a:t>
            </a:r>
          </a:p>
          <a:p>
            <a:pPr marL="0" indent="0">
              <a:buNone/>
            </a:pPr>
            <a:r>
              <a:rPr lang="en-GB" sz="2200" dirty="0">
                <a:solidFill>
                  <a:schemeClr val="tx1"/>
                </a:solidFill>
                <a:latin typeface="Arial" charset="0"/>
                <a:cs typeface="Arial" charset="0"/>
              </a:rPr>
              <a:t>Table of Contents</a:t>
            </a:r>
          </a:p>
          <a:p>
            <a:pPr marL="0" indent="0">
              <a:buNone/>
            </a:pPr>
            <a:r>
              <a:rPr lang="en-GB" sz="2200" i="1" dirty="0">
                <a:solidFill>
                  <a:schemeClr val="tx1"/>
                </a:solidFill>
                <a:latin typeface="Arial" charset="0"/>
                <a:cs typeface="Arial" charset="0"/>
              </a:rPr>
              <a:t>List of Figures</a:t>
            </a:r>
          </a:p>
          <a:p>
            <a:pPr marL="0" indent="0">
              <a:buNone/>
            </a:pPr>
            <a:r>
              <a:rPr lang="en-GB" sz="2200" dirty="0">
                <a:solidFill>
                  <a:schemeClr val="tx1"/>
                </a:solidFill>
                <a:latin typeface="Arial" charset="0"/>
                <a:cs typeface="Arial" charset="0"/>
              </a:rPr>
              <a:t>Introduction</a:t>
            </a:r>
            <a:endParaRPr lang="en-GB" sz="2200" dirty="0">
              <a:solidFill>
                <a:schemeClr val="tx1"/>
              </a:solidFill>
              <a:latin typeface="Courier New" pitchFamily="49" charset="0"/>
              <a:cs typeface="Courier New" pitchFamily="49" charset="0"/>
            </a:endParaRPr>
          </a:p>
          <a:p>
            <a:pPr marL="0" indent="0">
              <a:buNone/>
            </a:pPr>
            <a:r>
              <a:rPr lang="en-GB" sz="2200" dirty="0">
                <a:solidFill>
                  <a:schemeClr val="tx1"/>
                </a:solidFill>
                <a:latin typeface="Arial" charset="0"/>
                <a:cs typeface="Arial" charset="0"/>
              </a:rPr>
              <a:t>Sections</a:t>
            </a:r>
          </a:p>
          <a:p>
            <a:pPr marL="400050" lvl="1" indent="0">
              <a:buNone/>
            </a:pPr>
            <a:r>
              <a:rPr lang="en-GB" sz="1800" i="1" dirty="0">
                <a:solidFill>
                  <a:schemeClr val="tx1"/>
                </a:solidFill>
                <a:latin typeface="Arial" charset="0"/>
                <a:cs typeface="Arial" charset="0"/>
              </a:rPr>
              <a:t>Subsections</a:t>
            </a:r>
          </a:p>
          <a:p>
            <a:pPr marL="0" indent="0">
              <a:buNone/>
            </a:pPr>
            <a:r>
              <a:rPr lang="en-GB" sz="2200" dirty="0">
                <a:solidFill>
                  <a:schemeClr val="tx1"/>
                </a:solidFill>
                <a:latin typeface="Arial" charset="0"/>
                <a:cs typeface="Arial" charset="0"/>
              </a:rPr>
              <a:t>Conclusion</a:t>
            </a:r>
          </a:p>
          <a:p>
            <a:pPr marL="0" indent="0">
              <a:buNone/>
            </a:pPr>
            <a:r>
              <a:rPr lang="en-GB" sz="2200" dirty="0">
                <a:solidFill>
                  <a:schemeClr val="tx1"/>
                </a:solidFill>
                <a:latin typeface="Arial" charset="0"/>
                <a:cs typeface="Arial" charset="0"/>
              </a:rPr>
              <a:t>References</a:t>
            </a:r>
          </a:p>
          <a:p>
            <a:pPr marL="0" indent="0">
              <a:buNone/>
            </a:pPr>
            <a:r>
              <a:rPr lang="en-GB" sz="2200" i="1" dirty="0">
                <a:solidFill>
                  <a:schemeClr val="tx1"/>
                </a:solidFill>
                <a:latin typeface="Arial" charset="0"/>
                <a:cs typeface="Arial" charset="0"/>
              </a:rPr>
              <a:t>Bibliography</a:t>
            </a:r>
          </a:p>
          <a:p>
            <a:pPr marL="0" indent="0">
              <a:buNone/>
            </a:pPr>
            <a:r>
              <a:rPr lang="en-GB" sz="2200" dirty="0">
                <a:solidFill>
                  <a:schemeClr val="tx1"/>
                </a:solidFill>
                <a:latin typeface="Arial" charset="0"/>
                <a:cs typeface="Arial" charset="0"/>
              </a:rPr>
              <a:t>Appendices</a:t>
            </a:r>
          </a:p>
          <a:p>
            <a:pPr marL="0" indent="0" algn="r">
              <a:buNone/>
            </a:pPr>
            <a:r>
              <a:rPr lang="en-GB" sz="2200" dirty="0">
                <a:solidFill>
                  <a:schemeClr val="tx1"/>
                </a:solidFill>
                <a:latin typeface="Arial" charset="0"/>
                <a:cs typeface="Arial" charset="0"/>
              </a:rPr>
              <a:t>(items in </a:t>
            </a:r>
            <a:r>
              <a:rPr lang="en-GB" sz="2200" i="1" dirty="0">
                <a:solidFill>
                  <a:schemeClr val="tx1"/>
                </a:solidFill>
                <a:latin typeface="Arial" charset="0"/>
                <a:cs typeface="Arial" charset="0"/>
              </a:rPr>
              <a:t>italics</a:t>
            </a:r>
            <a:r>
              <a:rPr lang="en-GB" sz="2200" dirty="0">
                <a:solidFill>
                  <a:schemeClr val="tx1"/>
                </a:solidFill>
                <a:latin typeface="Arial" charset="0"/>
                <a:cs typeface="Arial" charset="0"/>
              </a:rPr>
              <a:t> are optional)</a:t>
            </a:r>
          </a:p>
        </p:txBody>
      </p:sp>
    </p:spTree>
    <p:extLst>
      <p:ext uri="{BB962C8B-B14F-4D97-AF65-F5344CB8AC3E}">
        <p14:creationId xmlns:p14="http://schemas.microsoft.com/office/powerpoint/2010/main" val="585343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GB" dirty="0"/>
              <a:t>Page 1: Cover Page</a:t>
            </a:r>
            <a:endParaRPr lang="en-US" dirty="0"/>
          </a:p>
        </p:txBody>
      </p:sp>
      <p:sp>
        <p:nvSpPr>
          <p:cNvPr id="8" name="Content Placeholder 8">
            <a:extLst>
              <a:ext uri="{FF2B5EF4-FFF2-40B4-BE49-F238E27FC236}">
                <a16:creationId xmlns:a16="http://schemas.microsoft.com/office/drawing/2014/main" id="{97F2388F-EE23-D04E-9AD0-A30830A09D44}"/>
              </a:ext>
            </a:extLst>
          </p:cNvPr>
          <p:cNvSpPr txBox="1">
            <a:spLocks/>
          </p:cNvSpPr>
          <p:nvPr/>
        </p:nvSpPr>
        <p:spPr>
          <a:xfrm>
            <a:off x="4629150" y="1825625"/>
            <a:ext cx="38862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Name of the department</a:t>
            </a:r>
          </a:p>
          <a:p>
            <a:r>
              <a:rPr lang="en-GB" dirty="0"/>
              <a:t>Proposed database name </a:t>
            </a:r>
          </a:p>
          <a:p>
            <a:r>
              <a:rPr lang="en-GB" dirty="0"/>
              <a:t>Module name and assignment part </a:t>
            </a:r>
          </a:p>
          <a:p>
            <a:r>
              <a:rPr lang="en-GB" dirty="0"/>
              <a:t>Student Number</a:t>
            </a:r>
            <a:endParaRPr kumimoji="0" lang="en-GB"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9" name="Slide Number Placeholder 3">
            <a:extLst>
              <a:ext uri="{FF2B5EF4-FFF2-40B4-BE49-F238E27FC236}">
                <a16:creationId xmlns:a16="http://schemas.microsoft.com/office/drawing/2014/main" id="{F8687066-2B73-1A4A-9EF3-C8C364E31155}"/>
              </a:ext>
            </a:extLst>
          </p:cNvPr>
          <p:cNvSpPr txBox="1">
            <a:spLocks/>
          </p:cNvSpPr>
          <p:nvPr/>
        </p:nvSpPr>
        <p:spPr>
          <a:xfrm>
            <a:off x="6457950" y="635635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C6B6172-A572-4E67-9122-2B3DC03BE83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58B2DB76-5DA8-D04B-867C-F9D903A72038}"/>
              </a:ext>
            </a:extLst>
          </p:cNvPr>
          <p:cNvSpPr/>
          <p:nvPr/>
        </p:nvSpPr>
        <p:spPr>
          <a:xfrm>
            <a:off x="771525" y="2125266"/>
            <a:ext cx="3117273" cy="3499247"/>
          </a:xfrm>
          <a:prstGeom prst="rect">
            <a:avLst/>
          </a:prstGeom>
          <a:solidFill>
            <a:srgbClr val="5B9BD5">
              <a:alpha val="40000"/>
            </a:srgbClr>
          </a:solidFill>
          <a:ln w="12700" cap="flat" cmpd="sng" algn="ctr">
            <a:solidFill>
              <a:srgbClr val="5B9BD5">
                <a:shade val="50000"/>
              </a:srgbClr>
            </a:solidFill>
            <a:prstDash val="solid"/>
            <a:miter lim="800000"/>
          </a:ln>
          <a:effectLst/>
        </p:spPr>
        <p:txBody>
          <a:bodyPr rtlCol="0" anchor="ctr"/>
          <a:lstStyle/>
          <a:p>
            <a:pPr algn="ctr"/>
            <a:r>
              <a:rPr lang="en-GB" dirty="0"/>
              <a:t>School of Engineering, Arts, Science and Technology</a:t>
            </a:r>
          </a:p>
          <a:p>
            <a:pPr algn="ctr"/>
            <a:endParaRPr lang="en-GB" sz="1400" dirty="0"/>
          </a:p>
          <a:p>
            <a:pPr algn="ctr"/>
            <a:r>
              <a:rPr lang="en-GB" dirty="0"/>
              <a:t>Introduction to Relational Databases Assessment 1: Database Design </a:t>
            </a:r>
          </a:p>
          <a:p>
            <a:pPr algn="ctr"/>
            <a:endParaRPr lang="en-GB" sz="1400" dirty="0"/>
          </a:p>
          <a:p>
            <a:pPr algn="ctr"/>
            <a:r>
              <a:rPr lang="en-GB" dirty="0"/>
              <a:t>Student Number: </a:t>
            </a:r>
            <a:r>
              <a:rPr lang="en-GB" dirty="0" err="1"/>
              <a:t>sxxxx</a:t>
            </a:r>
            <a:r>
              <a:rPr lang="en-GB" dirty="0"/>
              <a:t> </a:t>
            </a:r>
            <a:endParaRPr lang="en-GB" sz="1400" dirty="0"/>
          </a:p>
        </p:txBody>
      </p:sp>
    </p:spTree>
    <p:extLst>
      <p:ext uri="{BB962C8B-B14F-4D97-AF65-F5344CB8AC3E}">
        <p14:creationId xmlns:p14="http://schemas.microsoft.com/office/powerpoint/2010/main" val="724676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GB" dirty="0"/>
              <a:t>Sample Contents</a:t>
            </a:r>
            <a:endParaRPr lang="en-US" dirty="0"/>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457200" y="1600200"/>
            <a:ext cx="8229597" cy="4983480"/>
          </a:xfrm>
        </p:spPr>
        <p:txBody>
          <a:bodyPr/>
          <a:lstStyle/>
          <a:p>
            <a:pPr marL="457200" indent="-457200">
              <a:buFont typeface="+mj-lt"/>
              <a:buAutoNum type="arabicPeriod"/>
            </a:pPr>
            <a:r>
              <a:rPr lang="en-US" dirty="0">
                <a:solidFill>
                  <a:schemeClr val="tx1"/>
                </a:solidFill>
              </a:rPr>
              <a:t>Introduction and </a:t>
            </a:r>
            <a:r>
              <a:rPr lang="en-GB" dirty="0">
                <a:solidFill>
                  <a:schemeClr val="tx1"/>
                </a:solidFill>
              </a:rPr>
              <a:t>Background </a:t>
            </a:r>
          </a:p>
          <a:p>
            <a:pPr marL="457200" indent="-457200">
              <a:buFont typeface="+mj-lt"/>
              <a:buAutoNum type="arabicPeriod"/>
            </a:pPr>
            <a:r>
              <a:rPr lang="en-GB" dirty="0">
                <a:solidFill>
                  <a:schemeClr val="tx1"/>
                </a:solidFill>
                <a:latin typeface="Arial" panose="020B0604020202020204" pitchFamily="34" charset="0"/>
                <a:ea typeface="Times New Roman" panose="02020603050405020304" pitchFamily="18" charset="0"/>
              </a:rPr>
              <a:t>Requirements of an enterprise</a:t>
            </a:r>
          </a:p>
          <a:p>
            <a:pPr marL="457200" indent="-457200">
              <a:buFont typeface="+mj-lt"/>
              <a:buAutoNum type="arabicPeriod"/>
            </a:pPr>
            <a:r>
              <a:rPr lang="en-GB" dirty="0">
                <a:solidFill>
                  <a:schemeClr val="tx1"/>
                </a:solidFill>
              </a:rPr>
              <a:t>Database Design Decisions : </a:t>
            </a:r>
            <a:r>
              <a:rPr lang="en-GB" dirty="0">
                <a:solidFill>
                  <a:schemeClr val="tx1"/>
                </a:solidFill>
                <a:latin typeface="Arial" panose="020B0604020202020204" pitchFamily="34" charset="0"/>
                <a:ea typeface="Times New Roman" panose="02020603050405020304" pitchFamily="18" charset="0"/>
              </a:rPr>
              <a:t>Apply appropriate data analysis and database design techniques.</a:t>
            </a:r>
          </a:p>
          <a:p>
            <a:pPr marL="457200" indent="-457200">
              <a:buFont typeface="+mj-lt"/>
              <a:buAutoNum type="arabicPeriod"/>
            </a:pPr>
            <a:r>
              <a:rPr lang="en-GB" dirty="0">
                <a:solidFill>
                  <a:schemeClr val="tx1"/>
                </a:solidFill>
              </a:rPr>
              <a:t>Potential User Enquiries : Identify the enquiries likely to be made of the database by the users.  These need only be expressed in bullet points &amp; not in SQL.</a:t>
            </a:r>
          </a:p>
          <a:p>
            <a:pPr marL="457200" indent="-457200">
              <a:buFont typeface="+mj-lt"/>
              <a:buAutoNum type="arabicPeriod"/>
            </a:pPr>
            <a:r>
              <a:rPr lang="en-GB" dirty="0">
                <a:solidFill>
                  <a:schemeClr val="tx1"/>
                </a:solidFill>
              </a:rPr>
              <a:t>Conclusion</a:t>
            </a:r>
          </a:p>
          <a:p>
            <a:pPr marL="457200" indent="-457200">
              <a:buFont typeface="+mj-lt"/>
              <a:buAutoNum type="arabicPeriod"/>
            </a:pPr>
            <a:r>
              <a:rPr lang="en-GB" dirty="0">
                <a:solidFill>
                  <a:schemeClr val="tx1"/>
                </a:solidFill>
              </a:rPr>
              <a:t>References</a:t>
            </a:r>
          </a:p>
          <a:p>
            <a:pPr marL="457200" indent="-457200">
              <a:buFont typeface="+mj-lt"/>
              <a:buAutoNum type="arabicPeriod"/>
            </a:pPr>
            <a:r>
              <a:rPr lang="en-GB" dirty="0">
                <a:solidFill>
                  <a:schemeClr val="tx1"/>
                </a:solidFill>
              </a:rPr>
              <a:t>Appendices</a:t>
            </a:r>
            <a:br>
              <a:rPr lang="en-GB" dirty="0">
                <a:solidFill>
                  <a:schemeClr val="tx1"/>
                </a:solidFill>
              </a:rPr>
            </a:br>
            <a:endParaRPr lang="en-GB" dirty="0">
              <a:solidFill>
                <a:schemeClr val="tx1"/>
              </a:solidFill>
            </a:endParaRPr>
          </a:p>
          <a:p>
            <a:pPr marL="457200" indent="-457200">
              <a:buFont typeface="+mj-lt"/>
              <a:buAutoNum type="arabicPeriod"/>
            </a:pPr>
            <a:endParaRPr lang="en-GB" dirty="0">
              <a:solidFill>
                <a:schemeClr val="tx1"/>
              </a:solidFill>
            </a:endParaRPr>
          </a:p>
          <a:p>
            <a:pPr marL="457200" indent="-457200">
              <a:buFont typeface="+mj-lt"/>
              <a:buAutoNum type="arabicPeriod"/>
            </a:pPr>
            <a:endParaRPr lang="en-GB" dirty="0">
              <a:solidFill>
                <a:schemeClr val="tx1"/>
              </a:solidFill>
            </a:endParaRPr>
          </a:p>
          <a:p>
            <a:pPr marL="457200" indent="-457200">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457200" indent="-457200">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457200" indent="-457200">
              <a:buFont typeface="+mj-lt"/>
              <a:buAutoNum type="arabicPeriod"/>
            </a:pPr>
            <a:endParaRPr lang="en-GB" dirty="0">
              <a:solidFill>
                <a:schemeClr val="tx1"/>
              </a:solidFill>
            </a:endParaRPr>
          </a:p>
          <a:p>
            <a:pPr marL="457200" indent="-457200">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457200" indent="-457200">
              <a:buFont typeface="+mj-lt"/>
              <a:buAutoNum type="arabicPeriod"/>
            </a:pP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3645229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GB" dirty="0"/>
              <a:t>Sample Contents</a:t>
            </a:r>
            <a:endParaRPr lang="en-US" dirty="0"/>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457200" y="1600200"/>
            <a:ext cx="8229597" cy="4983480"/>
          </a:xfrm>
        </p:spPr>
        <p:txBody>
          <a:bodyPr/>
          <a:lstStyle/>
          <a:p>
            <a:pPr marL="457200" indent="-457200">
              <a:buFont typeface="+mj-lt"/>
              <a:buAutoNum type="arabicPeriod"/>
            </a:pPr>
            <a:r>
              <a:rPr lang="en-US" dirty="0">
                <a:solidFill>
                  <a:schemeClr val="tx1"/>
                </a:solidFill>
              </a:rPr>
              <a:t>Introduction and </a:t>
            </a:r>
            <a:r>
              <a:rPr lang="en-GB" dirty="0">
                <a:solidFill>
                  <a:schemeClr val="tx1"/>
                </a:solidFill>
              </a:rPr>
              <a:t>Background </a:t>
            </a:r>
          </a:p>
          <a:p>
            <a:pPr marL="457200" indent="-457200">
              <a:buFont typeface="+mj-lt"/>
              <a:buAutoNum type="arabicPeriod"/>
            </a:pPr>
            <a:r>
              <a:rPr lang="en-GB" dirty="0">
                <a:solidFill>
                  <a:schemeClr val="tx1"/>
                </a:solidFill>
                <a:latin typeface="Arial" panose="020B0604020202020204" pitchFamily="34" charset="0"/>
                <a:ea typeface="Times New Roman" panose="02020603050405020304" pitchFamily="18" charset="0"/>
              </a:rPr>
              <a:t>Requirements of an enterprise</a:t>
            </a:r>
          </a:p>
          <a:p>
            <a:pPr marL="457200" indent="-457200">
              <a:buFont typeface="+mj-lt"/>
              <a:buAutoNum type="arabicPeriod"/>
            </a:pPr>
            <a:r>
              <a:rPr lang="en-GB" b="1" dirty="0">
                <a:solidFill>
                  <a:schemeClr val="accent6"/>
                </a:solidFill>
              </a:rPr>
              <a:t>Database Design Decisions : </a:t>
            </a:r>
            <a:r>
              <a:rPr lang="en-GB" b="1" dirty="0">
                <a:solidFill>
                  <a:schemeClr val="accent6"/>
                </a:solidFill>
                <a:latin typeface="Arial" panose="020B0604020202020204" pitchFamily="34" charset="0"/>
                <a:ea typeface="Times New Roman" panose="02020603050405020304" pitchFamily="18" charset="0"/>
              </a:rPr>
              <a:t>Apply appropriate data analysis and database design techniques.</a:t>
            </a:r>
          </a:p>
          <a:p>
            <a:pPr marL="457200" indent="-457200">
              <a:buFont typeface="+mj-lt"/>
              <a:buAutoNum type="arabicPeriod"/>
            </a:pPr>
            <a:r>
              <a:rPr lang="en-GB" dirty="0">
                <a:solidFill>
                  <a:schemeClr val="tx1"/>
                </a:solidFill>
              </a:rPr>
              <a:t>Potential User Enquiries : Identify the enquiries likely to be made of the database by the users.  These need only be expressed in bullet points &amp; not in SQL.</a:t>
            </a:r>
          </a:p>
          <a:p>
            <a:pPr marL="457200" indent="-457200">
              <a:buFont typeface="+mj-lt"/>
              <a:buAutoNum type="arabicPeriod"/>
            </a:pPr>
            <a:r>
              <a:rPr lang="en-GB" dirty="0">
                <a:solidFill>
                  <a:schemeClr val="tx1"/>
                </a:solidFill>
              </a:rPr>
              <a:t>Conclusion</a:t>
            </a:r>
          </a:p>
          <a:p>
            <a:pPr marL="457200" indent="-457200">
              <a:buFont typeface="+mj-lt"/>
              <a:buAutoNum type="arabicPeriod"/>
            </a:pPr>
            <a:r>
              <a:rPr lang="en-GB" dirty="0">
                <a:solidFill>
                  <a:schemeClr val="tx1"/>
                </a:solidFill>
              </a:rPr>
              <a:t>References</a:t>
            </a:r>
          </a:p>
          <a:p>
            <a:pPr marL="457200" indent="-457200">
              <a:buFont typeface="+mj-lt"/>
              <a:buAutoNum type="arabicPeriod"/>
            </a:pPr>
            <a:r>
              <a:rPr lang="en-GB" dirty="0">
                <a:solidFill>
                  <a:schemeClr val="tx1"/>
                </a:solidFill>
              </a:rPr>
              <a:t>Appendices</a:t>
            </a:r>
            <a:br>
              <a:rPr lang="en-GB" dirty="0">
                <a:solidFill>
                  <a:schemeClr val="tx1"/>
                </a:solidFill>
              </a:rPr>
            </a:br>
            <a:endParaRPr lang="en-GB" dirty="0">
              <a:solidFill>
                <a:schemeClr val="tx1"/>
              </a:solidFill>
            </a:endParaRPr>
          </a:p>
          <a:p>
            <a:pPr marL="457200" indent="-457200">
              <a:buFont typeface="+mj-lt"/>
              <a:buAutoNum type="arabicPeriod"/>
            </a:pPr>
            <a:endParaRPr lang="en-GB" dirty="0">
              <a:solidFill>
                <a:schemeClr val="tx1"/>
              </a:solidFill>
            </a:endParaRPr>
          </a:p>
          <a:p>
            <a:pPr marL="457200" indent="-457200">
              <a:buFont typeface="+mj-lt"/>
              <a:buAutoNum type="arabicPeriod"/>
            </a:pPr>
            <a:endParaRPr lang="en-GB" dirty="0">
              <a:solidFill>
                <a:schemeClr val="tx1"/>
              </a:solidFill>
            </a:endParaRPr>
          </a:p>
          <a:p>
            <a:pPr marL="457200" indent="-457200">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457200" indent="-457200">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457200" indent="-457200">
              <a:buFont typeface="+mj-lt"/>
              <a:buAutoNum type="arabicPeriod"/>
            </a:pPr>
            <a:endParaRPr lang="en-GB" dirty="0">
              <a:solidFill>
                <a:schemeClr val="tx1"/>
              </a:solidFill>
            </a:endParaRPr>
          </a:p>
          <a:p>
            <a:pPr marL="457200" indent="-457200">
              <a:buFont typeface="+mj-lt"/>
              <a:buAutoNum type="arabicPeriod"/>
            </a:pPr>
            <a:endParaRPr lang="en-GB" dirty="0">
              <a:solidFill>
                <a:schemeClr val="tx1"/>
              </a:solidFill>
              <a:latin typeface="Arial" panose="020B0604020202020204" pitchFamily="34" charset="0"/>
              <a:ea typeface="Times New Roman" panose="02020603050405020304" pitchFamily="18" charset="0"/>
            </a:endParaRPr>
          </a:p>
          <a:p>
            <a:pPr marL="457200" indent="-457200">
              <a:buFont typeface="+mj-lt"/>
              <a:buAutoNum type="arabicPeriod"/>
            </a:pP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1064586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normAutofit/>
          </a:bodyPr>
          <a:lstStyle/>
          <a:p>
            <a:r>
              <a:rPr lang="en-GB" dirty="0"/>
              <a:t>Database Design Decisions</a:t>
            </a:r>
            <a:endParaRPr lang="en-GB" dirty="0">
              <a:solidFill>
                <a:schemeClr val="tx1"/>
              </a:solidFill>
              <a:latin typeface="Arial" panose="020B0604020202020204" pitchFamily="34"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457200" y="1600200"/>
            <a:ext cx="8360229" cy="4761411"/>
          </a:xfrm>
        </p:spPr>
        <p:txBody>
          <a:bodyPr/>
          <a:lstStyle/>
          <a:p>
            <a:endParaRPr lang="en-GB" dirty="0">
              <a:solidFill>
                <a:schemeClr val="tx1"/>
              </a:solidFill>
              <a:latin typeface="Arial" panose="020B0604020202020204" pitchFamily="34" charset="0"/>
              <a:ea typeface="Times New Roman" panose="02020603050405020304" pitchFamily="18" charset="0"/>
            </a:endParaRPr>
          </a:p>
          <a:p>
            <a:r>
              <a:rPr lang="en-GB" dirty="0">
                <a:solidFill>
                  <a:schemeClr val="tx1"/>
                </a:solidFill>
                <a:latin typeface="Arial" panose="020B0604020202020204" pitchFamily="34" charset="0"/>
                <a:ea typeface="Times New Roman" panose="02020603050405020304" pitchFamily="18" charset="0"/>
              </a:rPr>
              <a:t>Apply appropriate data analysis and database design techniques.</a:t>
            </a:r>
          </a:p>
          <a:p>
            <a:pPr lvl="1"/>
            <a:r>
              <a:rPr lang="en-GB" dirty="0">
                <a:solidFill>
                  <a:schemeClr val="tx1"/>
                </a:solidFill>
                <a:latin typeface="Arial" panose="020B0604020202020204" pitchFamily="34" charset="0"/>
              </a:rPr>
              <a:t>ERD (</a:t>
            </a:r>
            <a:r>
              <a:rPr lang="en-GB" dirty="0">
                <a:solidFill>
                  <a:srgbClr val="0070C0"/>
                </a:solidFill>
              </a:rPr>
              <a:t>conceptual to logical models)</a:t>
            </a:r>
            <a:endParaRPr lang="en-GB" dirty="0">
              <a:solidFill>
                <a:schemeClr val="tx1"/>
              </a:solidFill>
              <a:latin typeface="Arial" panose="020B0604020202020204" pitchFamily="34" charset="0"/>
            </a:endParaRPr>
          </a:p>
          <a:p>
            <a:pPr lvl="1"/>
            <a:r>
              <a:rPr lang="en-GB" dirty="0">
                <a:solidFill>
                  <a:schemeClr val="tx1"/>
                </a:solidFill>
                <a:latin typeface="Arial" panose="020B0604020202020204" pitchFamily="34" charset="0"/>
              </a:rPr>
              <a:t>Naming convention</a:t>
            </a:r>
          </a:p>
          <a:p>
            <a:pPr lvl="1"/>
            <a:r>
              <a:rPr lang="en-GB" dirty="0">
                <a:solidFill>
                  <a:schemeClr val="tx1"/>
                </a:solidFill>
              </a:rPr>
              <a:t>Normalisation (INF, 2NF, 3NF, BCNF)</a:t>
            </a:r>
          </a:p>
          <a:p>
            <a:pPr lvl="1"/>
            <a:r>
              <a:rPr lang="en-GB" dirty="0">
                <a:solidFill>
                  <a:schemeClr val="tx1"/>
                </a:solidFill>
              </a:rPr>
              <a:t>Relationships </a:t>
            </a:r>
          </a:p>
          <a:p>
            <a:pPr lvl="1"/>
            <a:r>
              <a:rPr lang="en-GB" dirty="0">
                <a:solidFill>
                  <a:schemeClr val="tx1"/>
                </a:solidFill>
              </a:rPr>
              <a:t>Attribute Options </a:t>
            </a:r>
          </a:p>
          <a:p>
            <a:pPr lvl="1"/>
            <a:r>
              <a:rPr lang="en-GB" dirty="0">
                <a:solidFill>
                  <a:schemeClr val="tx1"/>
                </a:solidFill>
              </a:rPr>
              <a:t>Attribute lengths </a:t>
            </a:r>
          </a:p>
          <a:p>
            <a:pPr lvl="1"/>
            <a:endParaRPr lang="en-GB" dirty="0">
              <a:solidFill>
                <a:schemeClr val="tx1"/>
              </a:solidFill>
            </a:endParaRPr>
          </a:p>
          <a:p>
            <a:pPr lvl="1"/>
            <a:endParaRPr lang="en-US" dirty="0">
              <a:solidFill>
                <a:schemeClr val="tx1"/>
              </a:solidFill>
            </a:endParaRPr>
          </a:p>
        </p:txBody>
      </p:sp>
    </p:spTree>
    <p:extLst>
      <p:ext uri="{BB962C8B-B14F-4D97-AF65-F5344CB8AC3E}">
        <p14:creationId xmlns:p14="http://schemas.microsoft.com/office/powerpoint/2010/main" val="2524654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normAutofit/>
          </a:bodyPr>
          <a:lstStyle/>
          <a:p>
            <a:r>
              <a:rPr lang="en-GB" dirty="0"/>
              <a:t>Database Design Decisions</a:t>
            </a:r>
            <a:endParaRPr lang="en-GB" dirty="0">
              <a:solidFill>
                <a:schemeClr val="tx1"/>
              </a:solidFill>
              <a:latin typeface="Arial" panose="020B0604020202020204" pitchFamily="34"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365760" y="1306286"/>
            <a:ext cx="8451669" cy="5055325"/>
          </a:xfrm>
        </p:spPr>
        <p:txBody>
          <a:bodyPr/>
          <a:lstStyle/>
          <a:p>
            <a:pPr marL="0" indent="0">
              <a:buNone/>
            </a:pPr>
            <a:r>
              <a:rPr lang="en-GB" sz="2800" dirty="0">
                <a:solidFill>
                  <a:prstClr val="black"/>
                </a:solidFill>
                <a:latin typeface="Calibri Light" panose="020F0302020204030204"/>
                <a:ea typeface="+mj-ea"/>
                <a:cs typeface="+mj-cs"/>
              </a:rPr>
              <a:t>Constraints and/or Assumptions</a:t>
            </a:r>
          </a:p>
          <a:p>
            <a:endParaRPr lang="en-GB" dirty="0">
              <a:solidFill>
                <a:schemeClr val="tx1"/>
              </a:solidFill>
            </a:endParaRPr>
          </a:p>
          <a:p>
            <a:pPr lvl="1"/>
            <a:endParaRPr lang="en-US" dirty="0">
              <a:solidFill>
                <a:schemeClr val="tx1"/>
              </a:solidFill>
            </a:endParaRPr>
          </a:p>
        </p:txBody>
      </p:sp>
      <p:sp>
        <p:nvSpPr>
          <p:cNvPr id="6" name="Content Placeholder 3">
            <a:extLst>
              <a:ext uri="{FF2B5EF4-FFF2-40B4-BE49-F238E27FC236}">
                <a16:creationId xmlns:a16="http://schemas.microsoft.com/office/drawing/2014/main" id="{D9297181-3856-644F-A6CC-75BEE893CBB1}"/>
              </a:ext>
            </a:extLst>
          </p:cNvPr>
          <p:cNvSpPr txBox="1">
            <a:spLocks/>
          </p:cNvSpPr>
          <p:nvPr/>
        </p:nvSpPr>
        <p:spPr>
          <a:xfrm>
            <a:off x="4629150" y="2295890"/>
            <a:ext cx="38862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Whenever you have made a design assumption (i.e., chose one among a plurality of legitimate options), try and make it explicit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We will not mark you down just for making additional assumptions, but make only reasonable assumptions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If you make assumptions that compromise the ability to express information that is required according to the task description, that might lead to loss of marks</a:t>
            </a:r>
          </a:p>
        </p:txBody>
      </p:sp>
      <p:sp>
        <p:nvSpPr>
          <p:cNvPr id="7" name="Rectangle 6">
            <a:extLst>
              <a:ext uri="{FF2B5EF4-FFF2-40B4-BE49-F238E27FC236}">
                <a16:creationId xmlns:a16="http://schemas.microsoft.com/office/drawing/2014/main" id="{93246692-6CCF-4B45-86F4-97183AF92141}"/>
              </a:ext>
            </a:extLst>
          </p:cNvPr>
          <p:cNvSpPr/>
          <p:nvPr/>
        </p:nvSpPr>
        <p:spPr>
          <a:xfrm>
            <a:off x="771525" y="2595531"/>
            <a:ext cx="3117273" cy="3499247"/>
          </a:xfrm>
          <a:prstGeom prst="rect">
            <a:avLst/>
          </a:prstGeom>
          <a:solidFill>
            <a:srgbClr val="5B9BD5">
              <a:alpha val="4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Constraints and/or Assumptions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257175" marR="0" lvl="0" indent="-257175" defTabSz="914400" eaLnBrk="1" fontAlgn="auto" latinLnBrk="0" hangingPunct="1">
              <a:lnSpc>
                <a:spcPct val="100000"/>
              </a:lnSpc>
              <a:spcBef>
                <a:spcPts val="0"/>
              </a:spcBef>
              <a:spcAft>
                <a:spcPts val="0"/>
              </a:spcAft>
              <a:buClrTx/>
              <a:buSzTx/>
              <a:buFontTx/>
              <a:buAutoNum type="arabicPeriod"/>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We assumed that every student would have only one advisor, whereas an advisor could have many potential advisees. Accordingly, we modelled the “advisor” relationship between student and instructor as many-to-one. </a:t>
            </a:r>
          </a:p>
          <a:p>
            <a:pPr marL="257175" marR="0" lvl="0" indent="-257175" defTabSz="914400" eaLnBrk="1" fontAlgn="auto" latinLnBrk="0" hangingPunct="1">
              <a:lnSpc>
                <a:spcPct val="100000"/>
              </a:lnSpc>
              <a:spcBef>
                <a:spcPts val="0"/>
              </a:spcBef>
              <a:spcAft>
                <a:spcPts val="0"/>
              </a:spcAft>
              <a:buClrTx/>
              <a:buSzTx/>
              <a:buFontTx/>
              <a:buAutoNum type="arabicPeriod"/>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a:t>
            </a:r>
          </a:p>
          <a:p>
            <a:pPr marL="257175" marR="0" lvl="0" indent="-257175" defTabSz="914400" eaLnBrk="1" fontAlgn="auto" latinLnBrk="0" hangingPunct="1">
              <a:lnSpc>
                <a:spcPct val="100000"/>
              </a:lnSpc>
              <a:spcBef>
                <a:spcPts val="0"/>
              </a:spcBef>
              <a:spcAft>
                <a:spcPts val="0"/>
              </a:spcAft>
              <a:buClrTx/>
              <a:buSzTx/>
              <a:buFontTx/>
              <a:buAutoNum type="arabicPeriod"/>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966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normAutofit/>
          </a:bodyPr>
          <a:lstStyle/>
          <a:p>
            <a:r>
              <a:rPr lang="en-GB" dirty="0"/>
              <a:t>Section 3: Database Design Decisions</a:t>
            </a:r>
            <a:endParaRPr lang="en-GB" dirty="0">
              <a:solidFill>
                <a:schemeClr val="tx1"/>
              </a:solidFill>
              <a:latin typeface="Arial" panose="020B0604020202020204" pitchFamily="34"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a:xfrm>
            <a:off x="365760" y="1306286"/>
            <a:ext cx="8451669" cy="5055325"/>
          </a:xfrm>
        </p:spPr>
        <p:txBody>
          <a:bodyPr/>
          <a:lstStyle/>
          <a:p>
            <a:pPr marL="0" indent="0">
              <a:buNone/>
            </a:pPr>
            <a:r>
              <a:rPr lang="en-GB" sz="3200" dirty="0">
                <a:solidFill>
                  <a:prstClr val="black"/>
                </a:solidFill>
                <a:latin typeface="Calibri Light" panose="020F0302020204030204"/>
                <a:ea typeface="+mj-ea"/>
                <a:cs typeface="+mj-cs"/>
              </a:rPr>
              <a:t>Database Design</a:t>
            </a:r>
            <a:endParaRPr lang="en-GB" sz="3200" dirty="0">
              <a:solidFill>
                <a:schemeClr val="tx1"/>
              </a:solidFill>
            </a:endParaRPr>
          </a:p>
          <a:p>
            <a:pPr lvl="1"/>
            <a:endParaRPr lang="en-US" dirty="0">
              <a:solidFill>
                <a:schemeClr val="tx1"/>
              </a:solidFill>
            </a:endParaRPr>
          </a:p>
        </p:txBody>
      </p:sp>
      <p:sp>
        <p:nvSpPr>
          <p:cNvPr id="10" name="Content Placeholder 3">
            <a:extLst>
              <a:ext uri="{FF2B5EF4-FFF2-40B4-BE49-F238E27FC236}">
                <a16:creationId xmlns:a16="http://schemas.microsoft.com/office/drawing/2014/main" id="{1CC644D0-29D5-C144-9196-58B4E26F3C40}"/>
              </a:ext>
            </a:extLst>
          </p:cNvPr>
          <p:cNvSpPr txBox="1">
            <a:spLocks/>
          </p:cNvSpPr>
          <p:nvPr/>
        </p:nvSpPr>
        <p:spPr>
          <a:xfrm>
            <a:off x="4629150" y="1825625"/>
            <a:ext cx="38862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Make the attributes and primary keys explicit.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If you have space, make the foreign key relationships also explicit (this is preferred for clarity)</a:t>
            </a:r>
          </a:p>
        </p:txBody>
      </p:sp>
      <p:sp>
        <p:nvSpPr>
          <p:cNvPr id="11" name="Rectangle 10">
            <a:extLst>
              <a:ext uri="{FF2B5EF4-FFF2-40B4-BE49-F238E27FC236}">
                <a16:creationId xmlns:a16="http://schemas.microsoft.com/office/drawing/2014/main" id="{476F6CBF-F711-F348-A269-7AB0FCE4EA28}"/>
              </a:ext>
            </a:extLst>
          </p:cNvPr>
          <p:cNvSpPr/>
          <p:nvPr/>
        </p:nvSpPr>
        <p:spPr>
          <a:xfrm>
            <a:off x="771525" y="2125266"/>
            <a:ext cx="3117273" cy="3499247"/>
          </a:xfrm>
          <a:prstGeom prst="rect">
            <a:avLst/>
          </a:prstGeom>
          <a:solidFill>
            <a:srgbClr val="5B9BD5">
              <a:alpha val="4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Database Design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257175" marR="0" lvl="0" indent="-257175" defTabSz="914400" eaLnBrk="1" fontAlgn="auto" latinLnBrk="0" hangingPunct="1">
              <a:lnSpc>
                <a:spcPct val="100000"/>
              </a:lnSpc>
              <a:spcBef>
                <a:spcPts val="0"/>
              </a:spcBef>
              <a:spcAft>
                <a:spcPts val="0"/>
              </a:spcAft>
              <a:buClrTx/>
              <a:buSzTx/>
              <a:buFontTx/>
              <a:buAutoNum type="arabicPeriod"/>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Table1(</a:t>
            </a:r>
            <a:r>
              <a:rPr kumimoji="0" lang="en-GB" sz="1350" b="0" i="0" u="sng" strike="noStrike" kern="0" cap="none" spc="0" normalizeH="0" baseline="0" noProof="0" dirty="0">
                <a:ln>
                  <a:noFill/>
                </a:ln>
                <a:solidFill>
                  <a:prstClr val="black"/>
                </a:solidFill>
                <a:effectLst/>
                <a:uLnTx/>
                <a:uFillTx/>
                <a:latin typeface="Calibri" panose="020F0502020204030204"/>
                <a:ea typeface="+mn-ea"/>
                <a:cs typeface="+mn-cs"/>
              </a:rPr>
              <a:t>Attr1</a:t>
            </a: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GB" sz="1350" b="0" i="0" u="sng" strike="noStrike" kern="0" cap="none" spc="0" normalizeH="0" baseline="0" noProof="0" dirty="0">
                <a:ln>
                  <a:noFill/>
                </a:ln>
                <a:solidFill>
                  <a:prstClr val="black"/>
                </a:solidFill>
                <a:effectLst/>
                <a:uLnTx/>
                <a:uFillTx/>
                <a:latin typeface="Calibri" panose="020F0502020204030204"/>
                <a:ea typeface="+mn-ea"/>
                <a:cs typeface="+mn-cs"/>
              </a:rPr>
              <a:t>Attr2</a:t>
            </a: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 Attr3): This table is related to the relationship set R2, and takes it’s primary key from the entity sets (E1 and E2) it connects. Attr1 is a foreign key to Table5, and Attr2 is a foreign key to Table 6.</a:t>
            </a:r>
          </a:p>
          <a:p>
            <a:pPr marL="257175" marR="0" lvl="0" indent="-257175" defTabSz="914400" eaLnBrk="1" fontAlgn="auto" latinLnBrk="0" hangingPunct="1">
              <a:lnSpc>
                <a:spcPct val="100000"/>
              </a:lnSpc>
              <a:spcBef>
                <a:spcPts val="0"/>
              </a:spcBef>
              <a:spcAft>
                <a:spcPts val="0"/>
              </a:spcAft>
              <a:buClrTx/>
              <a:buSzTx/>
              <a:buFontTx/>
              <a:buAutoNum type="arabicPeriod"/>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a:t>
            </a:r>
          </a:p>
          <a:p>
            <a:pPr marL="257175" marR="0" lvl="0" indent="-257175" defTabSz="914400" eaLnBrk="1" fontAlgn="auto" latinLnBrk="0" hangingPunct="1">
              <a:lnSpc>
                <a:spcPct val="100000"/>
              </a:lnSpc>
              <a:spcBef>
                <a:spcPts val="0"/>
              </a:spcBef>
              <a:spcAft>
                <a:spcPts val="0"/>
              </a:spcAft>
              <a:buClrTx/>
              <a:buSzTx/>
              <a:buFontTx/>
              <a:buAutoNum type="arabicPeriod"/>
              <a:tabLst/>
              <a:defRPr/>
            </a:pPr>
            <a:r>
              <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010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p:txBody>
          <a:bodyPr/>
          <a:lstStyle/>
          <a:p>
            <a:r>
              <a:rPr lang="en-US" dirty="0"/>
              <a:t>Marking will also depend on</a:t>
            </a:r>
          </a:p>
        </p:txBody>
      </p:sp>
      <p:sp>
        <p:nvSpPr>
          <p:cNvPr id="3" name="Content Placeholder 2">
            <a:extLst>
              <a:ext uri="{FF2B5EF4-FFF2-40B4-BE49-F238E27FC236}">
                <a16:creationId xmlns:a16="http://schemas.microsoft.com/office/drawing/2014/main" id="{812105E8-DB06-184F-9F27-1721D2053486}"/>
              </a:ext>
            </a:extLst>
          </p:cNvPr>
          <p:cNvSpPr>
            <a:spLocks noGrp="1"/>
          </p:cNvSpPr>
          <p:nvPr>
            <p:ph idx="1"/>
          </p:nvPr>
        </p:nvSpPr>
        <p:spPr/>
        <p:txBody>
          <a:bodyPr/>
          <a:lstStyle/>
          <a:p>
            <a:r>
              <a:rPr lang="en-US" dirty="0">
                <a:solidFill>
                  <a:schemeClr val="tx1"/>
                </a:solidFill>
              </a:rPr>
              <a:t>Structure </a:t>
            </a:r>
          </a:p>
          <a:p>
            <a:r>
              <a:rPr lang="en-US" dirty="0">
                <a:solidFill>
                  <a:schemeClr val="tx1"/>
                </a:solidFill>
              </a:rPr>
              <a:t>Presentation</a:t>
            </a:r>
          </a:p>
          <a:p>
            <a:r>
              <a:rPr lang="en-US" dirty="0">
                <a:solidFill>
                  <a:schemeClr val="tx1"/>
                </a:solidFill>
              </a:rPr>
              <a:t>Referencing</a:t>
            </a:r>
          </a:p>
          <a:p>
            <a:r>
              <a:rPr lang="en-US" dirty="0">
                <a:solidFill>
                  <a:schemeClr val="tx1"/>
                </a:solidFill>
              </a:rPr>
              <a:t>Arguments </a:t>
            </a:r>
          </a:p>
          <a:p>
            <a:endParaRPr lang="en-US" dirty="0">
              <a:solidFill>
                <a:schemeClr val="tx1"/>
              </a:solidFill>
            </a:endParaRPr>
          </a:p>
        </p:txBody>
      </p:sp>
    </p:spTree>
    <p:extLst>
      <p:ext uri="{BB962C8B-B14F-4D97-AF65-F5344CB8AC3E}">
        <p14:creationId xmlns:p14="http://schemas.microsoft.com/office/powerpoint/2010/main" val="1547290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a:xfrm>
            <a:off x="0" y="0"/>
            <a:ext cx="8079453" cy="1143000"/>
          </a:xfrm>
        </p:spPr>
        <p:txBody>
          <a:bodyPr/>
          <a:lstStyle/>
          <a:p>
            <a:r>
              <a:rPr lang="en-US" dirty="0"/>
              <a:t>Assignment 1 marking will depend on</a:t>
            </a:r>
          </a:p>
        </p:txBody>
      </p:sp>
      <p:graphicFrame>
        <p:nvGraphicFramePr>
          <p:cNvPr id="3" name="Table 2">
            <a:extLst>
              <a:ext uri="{FF2B5EF4-FFF2-40B4-BE49-F238E27FC236}">
                <a16:creationId xmlns:a16="http://schemas.microsoft.com/office/drawing/2014/main" id="{0BDAB4C6-2D3A-B2EF-05FF-500FD2F0564D}"/>
              </a:ext>
            </a:extLst>
          </p:cNvPr>
          <p:cNvGraphicFramePr>
            <a:graphicFrameLocks noGrp="1"/>
          </p:cNvGraphicFramePr>
          <p:nvPr>
            <p:extLst>
              <p:ext uri="{D42A27DB-BD31-4B8C-83A1-F6EECF244321}">
                <p14:modId xmlns:p14="http://schemas.microsoft.com/office/powerpoint/2010/main" val="365816729"/>
              </p:ext>
            </p:extLst>
          </p:nvPr>
        </p:nvGraphicFramePr>
        <p:xfrm>
          <a:off x="365441" y="1031556"/>
          <a:ext cx="8421371" cy="5312093"/>
        </p:xfrm>
        <a:graphic>
          <a:graphicData uri="http://schemas.openxmlformats.org/drawingml/2006/table">
            <a:tbl>
              <a:tblPr firstRow="1" firstCol="1" bandRow="1">
                <a:tableStyleId>{F2DE63D5-997A-4646-A377-4702673A728D}</a:tableStyleId>
              </a:tblPr>
              <a:tblGrid>
                <a:gridCol w="2368194">
                  <a:extLst>
                    <a:ext uri="{9D8B030D-6E8A-4147-A177-3AD203B41FA5}">
                      <a16:colId xmlns:a16="http://schemas.microsoft.com/office/drawing/2014/main" val="1284150974"/>
                    </a:ext>
                  </a:extLst>
                </a:gridCol>
                <a:gridCol w="6053177">
                  <a:extLst>
                    <a:ext uri="{9D8B030D-6E8A-4147-A177-3AD203B41FA5}">
                      <a16:colId xmlns:a16="http://schemas.microsoft.com/office/drawing/2014/main" val="3005728418"/>
                    </a:ext>
                  </a:extLst>
                </a:gridCol>
              </a:tblGrid>
              <a:tr h="476412">
                <a:tc gridSpan="2">
                  <a:txBody>
                    <a:bodyPr/>
                    <a:lstStyle/>
                    <a:p>
                      <a:pPr algn="ctr"/>
                      <a:r>
                        <a:rPr lang="en-GB" sz="1800" dirty="0">
                          <a:effectLst/>
                        </a:rPr>
                        <a:t>Students should strive to include the following to Pass</a:t>
                      </a:r>
                      <a:endParaRPr lang="en-GB" sz="2800" dirty="0">
                        <a:effectLst/>
                        <a:latin typeface="Times New Roman" panose="02020603050405020304" pitchFamily="18" charset="0"/>
                        <a:ea typeface="Times New Roman" panose="02020603050405020304" pitchFamily="18" charset="0"/>
                      </a:endParaRPr>
                    </a:p>
                  </a:txBody>
                  <a:tcPr marL="68580" marR="68580" marT="71755" marB="71755"/>
                </a:tc>
                <a:tc hMerge="1">
                  <a:txBody>
                    <a:bodyPr/>
                    <a:lstStyle/>
                    <a:p>
                      <a:endParaRPr lang="en-GB"/>
                    </a:p>
                  </a:txBody>
                  <a:tcPr/>
                </a:tc>
                <a:extLst>
                  <a:ext uri="{0D108BD9-81ED-4DB2-BD59-A6C34878D82A}">
                    <a16:rowId xmlns:a16="http://schemas.microsoft.com/office/drawing/2014/main" val="1692206548"/>
                  </a:ext>
                </a:extLst>
              </a:tr>
              <a:tr h="967136">
                <a:tc>
                  <a:txBody>
                    <a:bodyPr/>
                    <a:lstStyle/>
                    <a:p>
                      <a:r>
                        <a:rPr lang="en-GB" sz="1600">
                          <a:effectLst/>
                        </a:rPr>
                        <a:t>Criteria 1: Normalisation</a:t>
                      </a:r>
                      <a:endParaRPr lang="en-GB" sz="2400">
                        <a:effectLst/>
                        <a:latin typeface="Times New Roman" panose="02020603050405020304" pitchFamily="18" charset="0"/>
                        <a:ea typeface="Times New Roman" panose="02020603050405020304" pitchFamily="18" charset="0"/>
                      </a:endParaRPr>
                    </a:p>
                  </a:txBody>
                  <a:tcPr marL="68580" marR="68580" marT="71755" marB="71755"/>
                </a:tc>
                <a:tc>
                  <a:txBody>
                    <a:bodyPr/>
                    <a:lstStyle/>
                    <a:p>
                      <a:r>
                        <a:rPr lang="en-GB" sz="1400" dirty="0">
                          <a:effectLst/>
                        </a:rPr>
                        <a:t>Describe normal forms in theory; Discuss normal forms in practice; Don’t accidentally de-normalise; Explicit final design; Design appropriate to domain and free from conceptual duplication; Design free from manual calculations</a:t>
                      </a:r>
                      <a:endParaRPr lang="en-GB" sz="2000" dirty="0">
                        <a:effectLst/>
                        <a:latin typeface="Times New Roman" panose="02020603050405020304" pitchFamily="18" charset="0"/>
                        <a:ea typeface="Times New Roman" panose="02020603050405020304" pitchFamily="18" charset="0"/>
                      </a:endParaRPr>
                    </a:p>
                  </a:txBody>
                  <a:tcPr marL="68580" marR="68580" marT="71755" marB="71755"/>
                </a:tc>
                <a:extLst>
                  <a:ext uri="{0D108BD9-81ED-4DB2-BD59-A6C34878D82A}">
                    <a16:rowId xmlns:a16="http://schemas.microsoft.com/office/drawing/2014/main" val="3784072160"/>
                  </a:ext>
                </a:extLst>
              </a:tr>
              <a:tr h="721774">
                <a:tc>
                  <a:txBody>
                    <a:bodyPr/>
                    <a:lstStyle/>
                    <a:p>
                      <a:r>
                        <a:rPr lang="en-GB" sz="1600">
                          <a:effectLst/>
                        </a:rPr>
                        <a:t>Criteria 2: ERD</a:t>
                      </a:r>
                      <a:endParaRPr lang="en-GB" sz="2400">
                        <a:effectLst/>
                        <a:latin typeface="Times New Roman" panose="02020603050405020304" pitchFamily="18" charset="0"/>
                        <a:ea typeface="Times New Roman" panose="02020603050405020304" pitchFamily="18" charset="0"/>
                      </a:endParaRPr>
                    </a:p>
                  </a:txBody>
                  <a:tcPr marL="68580" marR="68580" marT="71755" marB="71755"/>
                </a:tc>
                <a:tc>
                  <a:txBody>
                    <a:bodyPr/>
                    <a:lstStyle/>
                    <a:p>
                      <a:r>
                        <a:rPr lang="en-GB" sz="1400">
                          <a:effectLst/>
                        </a:rPr>
                        <a:t>ERD for requirements for both logical and conceptual; ERD uses correct symbols (crows-feet, cardinality bars etc.); Discuss relationships and keys</a:t>
                      </a:r>
                      <a:endParaRPr lang="en-GB" sz="2000">
                        <a:effectLst/>
                        <a:latin typeface="Times New Roman" panose="02020603050405020304" pitchFamily="18" charset="0"/>
                        <a:ea typeface="Times New Roman" panose="02020603050405020304" pitchFamily="18" charset="0"/>
                      </a:endParaRPr>
                    </a:p>
                  </a:txBody>
                  <a:tcPr marL="68580" marR="68580" marT="71755" marB="71755"/>
                </a:tc>
                <a:extLst>
                  <a:ext uri="{0D108BD9-81ED-4DB2-BD59-A6C34878D82A}">
                    <a16:rowId xmlns:a16="http://schemas.microsoft.com/office/drawing/2014/main" val="4028640928"/>
                  </a:ext>
                </a:extLst>
              </a:tr>
              <a:tr h="967136">
                <a:tc>
                  <a:txBody>
                    <a:bodyPr/>
                    <a:lstStyle/>
                    <a:p>
                      <a:r>
                        <a:rPr lang="en-GB" sz="1600">
                          <a:effectLst/>
                        </a:rPr>
                        <a:t>Criteria 3: Explanations</a:t>
                      </a:r>
                      <a:endParaRPr lang="en-GB" sz="2400">
                        <a:effectLst/>
                        <a:latin typeface="Times New Roman" panose="02020603050405020304" pitchFamily="18" charset="0"/>
                        <a:ea typeface="Times New Roman" panose="02020603050405020304" pitchFamily="18" charset="0"/>
                      </a:endParaRPr>
                    </a:p>
                  </a:txBody>
                  <a:tcPr marL="68580" marR="68580" marT="71755" marB="71755"/>
                </a:tc>
                <a:tc>
                  <a:txBody>
                    <a:bodyPr/>
                    <a:lstStyle/>
                    <a:p>
                      <a:r>
                        <a:rPr lang="en-GB" sz="1400" dirty="0">
                          <a:effectLst/>
                        </a:rPr>
                        <a:t>Describe domain and requirements, explain jargon (appendix if lots); Define abbreviations and domain terms on first use; Discuss column types and sizes, with justification and refs; Discuss constraints and use of NULL values</a:t>
                      </a:r>
                      <a:endParaRPr lang="en-GB" sz="2000" dirty="0">
                        <a:effectLst/>
                        <a:latin typeface="Times New Roman" panose="02020603050405020304" pitchFamily="18" charset="0"/>
                        <a:ea typeface="Times New Roman" panose="02020603050405020304" pitchFamily="18" charset="0"/>
                      </a:endParaRPr>
                    </a:p>
                  </a:txBody>
                  <a:tcPr marL="68580" marR="68580" marT="71755" marB="71755"/>
                </a:tc>
                <a:extLst>
                  <a:ext uri="{0D108BD9-81ED-4DB2-BD59-A6C34878D82A}">
                    <a16:rowId xmlns:a16="http://schemas.microsoft.com/office/drawing/2014/main" val="265314130"/>
                  </a:ext>
                </a:extLst>
              </a:tr>
              <a:tr h="1212499">
                <a:tc>
                  <a:txBody>
                    <a:bodyPr/>
                    <a:lstStyle/>
                    <a:p>
                      <a:r>
                        <a:rPr lang="en-GB" sz="1600">
                          <a:effectLst/>
                        </a:rPr>
                        <a:t>Criteria 4: Presentation and References</a:t>
                      </a:r>
                      <a:endParaRPr lang="en-GB" sz="2400">
                        <a:effectLst/>
                        <a:latin typeface="Times New Roman" panose="02020603050405020304" pitchFamily="18" charset="0"/>
                        <a:ea typeface="Times New Roman" panose="02020603050405020304" pitchFamily="18" charset="0"/>
                      </a:endParaRPr>
                    </a:p>
                  </a:txBody>
                  <a:tcPr marL="68580" marR="68580" marT="71755" marB="71755"/>
                </a:tc>
                <a:tc>
                  <a:txBody>
                    <a:bodyPr/>
                    <a:lstStyle/>
                    <a:p>
                      <a:r>
                        <a:rPr lang="en-GB" sz="1400">
                          <a:effectLst/>
                        </a:rPr>
                        <a:t>Easy to read; Language appropriate; Structure appropriate; Spelling, grammar, editing; Citations correct; References appropriate and not too shallow; Understand the difference between references and bibliography; No embedded objects in the document; Attention to detail, text matches diagrams, theory, references etc.</a:t>
                      </a:r>
                      <a:endParaRPr lang="en-GB" sz="2000">
                        <a:effectLst/>
                        <a:latin typeface="Times New Roman" panose="02020603050405020304" pitchFamily="18" charset="0"/>
                        <a:ea typeface="Times New Roman" panose="02020603050405020304" pitchFamily="18" charset="0"/>
                      </a:endParaRPr>
                    </a:p>
                  </a:txBody>
                  <a:tcPr marL="68580" marR="68580" marT="71755" marB="71755"/>
                </a:tc>
                <a:extLst>
                  <a:ext uri="{0D108BD9-81ED-4DB2-BD59-A6C34878D82A}">
                    <a16:rowId xmlns:a16="http://schemas.microsoft.com/office/drawing/2014/main" val="4181326671"/>
                  </a:ext>
                </a:extLst>
              </a:tr>
              <a:tr h="967136">
                <a:tc>
                  <a:txBody>
                    <a:bodyPr/>
                    <a:lstStyle/>
                    <a:p>
                      <a:r>
                        <a:rPr lang="en-GB" sz="1600" dirty="0">
                          <a:effectLst/>
                        </a:rPr>
                        <a:t>Criteria 5: Risks, Future opportunities and other factors</a:t>
                      </a:r>
                      <a:endParaRPr lang="en-GB" sz="2400" dirty="0">
                        <a:effectLst/>
                        <a:latin typeface="Times New Roman" panose="02020603050405020304" pitchFamily="18" charset="0"/>
                        <a:ea typeface="Times New Roman" panose="02020603050405020304" pitchFamily="18" charset="0"/>
                      </a:endParaRPr>
                    </a:p>
                  </a:txBody>
                  <a:tcPr marL="68580" marR="68580" marT="71755" marB="71755"/>
                </a:tc>
                <a:tc>
                  <a:txBody>
                    <a:bodyPr/>
                    <a:lstStyle/>
                    <a:p>
                      <a:r>
                        <a:rPr lang="en-GB" sz="1400" dirty="0">
                          <a:effectLst/>
                        </a:rPr>
                        <a:t>Discuss privacy, security and sensitive data; Discuss processes around the database; Discuss how data will change over time; Discuss possible problems; Example data; Example queries and what would be expected</a:t>
                      </a:r>
                      <a:endParaRPr lang="en-GB" sz="2000" dirty="0">
                        <a:effectLst/>
                        <a:latin typeface="Times New Roman" panose="02020603050405020304" pitchFamily="18" charset="0"/>
                        <a:ea typeface="Times New Roman" panose="02020603050405020304" pitchFamily="18" charset="0"/>
                      </a:endParaRPr>
                    </a:p>
                  </a:txBody>
                  <a:tcPr marL="68580" marR="68580" marT="71755" marB="71755"/>
                </a:tc>
                <a:extLst>
                  <a:ext uri="{0D108BD9-81ED-4DB2-BD59-A6C34878D82A}">
                    <a16:rowId xmlns:a16="http://schemas.microsoft.com/office/drawing/2014/main" val="4231502484"/>
                  </a:ext>
                </a:extLst>
              </a:tr>
            </a:tbl>
          </a:graphicData>
        </a:graphic>
      </p:graphicFrame>
    </p:spTree>
    <p:extLst>
      <p:ext uri="{BB962C8B-B14F-4D97-AF65-F5344CB8AC3E}">
        <p14:creationId xmlns:p14="http://schemas.microsoft.com/office/powerpoint/2010/main" val="561557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3995-869D-A942-9228-55EF65430626}"/>
              </a:ext>
            </a:extLst>
          </p:cNvPr>
          <p:cNvSpPr>
            <a:spLocks noGrp="1"/>
          </p:cNvSpPr>
          <p:nvPr>
            <p:ph type="title"/>
          </p:nvPr>
        </p:nvSpPr>
        <p:spPr>
          <a:xfrm>
            <a:off x="2083448" y="2547575"/>
            <a:ext cx="4879056" cy="992458"/>
          </a:xfrm>
        </p:spPr>
        <p:txBody>
          <a:bodyPr/>
          <a:lstStyle/>
          <a:p>
            <a:r>
              <a:rPr lang="en-GB" dirty="0"/>
              <a:t>Any more question?</a:t>
            </a:r>
            <a:endParaRPr lang="en-US" dirty="0"/>
          </a:p>
        </p:txBody>
      </p:sp>
    </p:spTree>
    <p:extLst>
      <p:ext uri="{BB962C8B-B14F-4D97-AF65-F5344CB8AC3E}">
        <p14:creationId xmlns:p14="http://schemas.microsoft.com/office/powerpoint/2010/main" val="3287426719"/>
      </p:ext>
    </p:extLst>
  </p:cSld>
  <p:clrMapOvr>
    <a:masterClrMapping/>
  </p:clrMapOvr>
</p:sld>
</file>

<file path=ppt/theme/theme1.xml><?xml version="1.0" encoding="utf-8"?>
<a:theme xmlns:a="http://schemas.openxmlformats.org/drawingml/2006/main" name="pptD5ED.tmp">
  <a:themeElements>
    <a:clrScheme name="University of Suffolk">
      <a:dk1>
        <a:srgbClr val="333333"/>
      </a:dk1>
      <a:lt1>
        <a:srgbClr val="FFFFFF"/>
      </a:lt1>
      <a:dk2>
        <a:srgbClr val="FFBF0B"/>
      </a:dk2>
      <a:lt2>
        <a:srgbClr val="D0D0CE"/>
      </a:lt2>
      <a:accent1>
        <a:srgbClr val="333F48"/>
      </a:accent1>
      <a:accent2>
        <a:srgbClr val="7C878E"/>
      </a:accent2>
      <a:accent3>
        <a:srgbClr val="0067A0"/>
      </a:accent3>
      <a:accent4>
        <a:srgbClr val="009CDE"/>
      </a:accent4>
      <a:accent5>
        <a:srgbClr val="FC4C02"/>
      </a:accent5>
      <a:accent6>
        <a:srgbClr val="DA291C"/>
      </a:accent6>
      <a:hlink>
        <a:srgbClr val="009CDE"/>
      </a:hlink>
      <a:folHlink>
        <a:srgbClr val="DA291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6576</TotalTime>
  <Words>1011</Words>
  <Application>Microsoft Macintosh PowerPoint</Application>
  <PresentationFormat>On-screen Show (4:3)</PresentationFormat>
  <Paragraphs>138</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Bold</vt:lpstr>
      <vt:lpstr>Calibri</vt:lpstr>
      <vt:lpstr>Calibri Light</vt:lpstr>
      <vt:lpstr>Courier New</vt:lpstr>
      <vt:lpstr>Graphik Regular</vt:lpstr>
      <vt:lpstr>Sharp Sans No1 Book</vt:lpstr>
      <vt:lpstr>Times New Roman</vt:lpstr>
      <vt:lpstr>pptD5ED.tmp</vt:lpstr>
      <vt:lpstr>Assignment Requirements</vt:lpstr>
      <vt:lpstr>What is required?</vt:lpstr>
      <vt:lpstr>Learning outcomes to be assessed</vt:lpstr>
      <vt:lpstr>Assignment Brief</vt:lpstr>
      <vt:lpstr>Assignment: Report Structure</vt:lpstr>
      <vt:lpstr>Document Structure</vt:lpstr>
      <vt:lpstr>Page 1: Cover Page</vt:lpstr>
      <vt:lpstr>Sample Contents</vt:lpstr>
      <vt:lpstr>Sample Contents</vt:lpstr>
      <vt:lpstr>Database Design Decisions</vt:lpstr>
      <vt:lpstr>Database Design Decisions</vt:lpstr>
      <vt:lpstr>Section 3: Database Design Decisions</vt:lpstr>
      <vt:lpstr>Marking will also depend on</vt:lpstr>
      <vt:lpstr>Assignment 1 marking will depend on</vt:lpstr>
      <vt:lpstr>Any more question?</vt:lpstr>
    </vt:vector>
  </TitlesOfParts>
  <Company>designflavour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peter ramsey</dc:creator>
  <cp:lastModifiedBy>Mark Power</cp:lastModifiedBy>
  <cp:revision>257</cp:revision>
  <dcterms:created xsi:type="dcterms:W3CDTF">2011-03-16T14:24:04Z</dcterms:created>
  <dcterms:modified xsi:type="dcterms:W3CDTF">2023-01-04T17:44:59Z</dcterms:modified>
</cp:coreProperties>
</file>